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27f7ed876744db" /><Relationship Type="http://schemas.openxmlformats.org/officeDocument/2006/relationships/extended-properties" Target="/docProps/app.xml" Id="R5fdc00f5956a4f1b" /><Relationship Type="http://schemas.openxmlformats.org/officeDocument/2006/relationships/officeDocument" Target="/ppt/presentation.xml" Id="Rb40d2e45c2754c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e261f46529400b"/>
  </p:sldMasterIdLst>
  <p:notesMasterIdLst>
    <p:notesMasterId xmlns:r="http://schemas.openxmlformats.org/officeDocument/2006/relationships" r:id="R4e64aa49580a4f64"/>
  </p:notesMasterIdLst>
  <p:sldIdLst>
    <p:sldId xmlns:r="http://schemas.openxmlformats.org/officeDocument/2006/relationships" id="256" r:id="R44ac8a218fbd435a"/>
    <p:sldId xmlns:r="http://schemas.openxmlformats.org/officeDocument/2006/relationships" id="257" r:id="R3796ac681552496b"/>
    <p:sldId xmlns:r="http://schemas.openxmlformats.org/officeDocument/2006/relationships" id="258" r:id="Rc7f784f4f8c44392"/>
    <p:sldId xmlns:r="http://schemas.openxmlformats.org/officeDocument/2006/relationships" id="259" r:id="Re01fdf94276744ef"/>
    <p:sldId xmlns:r="http://schemas.openxmlformats.org/officeDocument/2006/relationships" id="260" r:id="R204269e3978042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cb9503e6074844" /><Relationship Type="http://schemas.openxmlformats.org/officeDocument/2006/relationships/slideMaster" Target="/ppt/slideMasters/slideMaster1.xml" Id="R38e261f46529400b" /><Relationship Type="http://schemas.openxmlformats.org/officeDocument/2006/relationships/notesMaster" Target="/ppt/notesMasters/notesMaster1.xml" Id="R4e64aa49580a4f64" /><Relationship Type="http://schemas.openxmlformats.org/officeDocument/2006/relationships/presProps" Target="/ppt/presProps.xml" Id="Ra6472e84b63a4424" /><Relationship Type="http://schemas.openxmlformats.org/officeDocument/2006/relationships/tableStyles" Target="/ppt/tableStyles.xml" Id="R3630168b1ec24d15" /><Relationship Type="http://schemas.openxmlformats.org/officeDocument/2006/relationships/slide" Target="/ppt/slides/slide1.xml" Id="R44ac8a218fbd435a" /><Relationship Type="http://schemas.openxmlformats.org/officeDocument/2006/relationships/slide" Target="/ppt/slides/slide2.xml" Id="R3796ac681552496b" /><Relationship Type="http://schemas.openxmlformats.org/officeDocument/2006/relationships/slide" Target="/ppt/slides/slide3.xml" Id="Rc7f784f4f8c44392" /><Relationship Type="http://schemas.openxmlformats.org/officeDocument/2006/relationships/slide" Target="/ppt/slides/slide4.xml" Id="Re01fdf94276744ef" /><Relationship Type="http://schemas.openxmlformats.org/officeDocument/2006/relationships/slide" Target="/ppt/slides/slide5.xml" Id="R204269e3978042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fd518cbad949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b524563e724f43" /><Relationship Type="http://schemas.openxmlformats.org/officeDocument/2006/relationships/notesMaster" Target="/ppt/notesMasters/notesMaster1.xml" Id="R6f38042bb36246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50e4c87bfb4d29" /><Relationship Type="http://schemas.openxmlformats.org/officeDocument/2006/relationships/notesMaster" Target="/ppt/notesMasters/notesMaster1.xml" Id="R7f7abce784c042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c9347b9a404046" /><Relationship Type="http://schemas.openxmlformats.org/officeDocument/2006/relationships/notesMaster" Target="/ppt/notesMasters/notesMaster1.xml" Id="Ra19f8e10385c4f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298f9e44334cb1" /><Relationship Type="http://schemas.openxmlformats.org/officeDocument/2006/relationships/notesMaster" Target="/ppt/notesMasters/notesMaster1.xml" Id="R0b18d8a0f21a44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fb271ed4584673" /><Relationship Type="http://schemas.openxmlformats.org/officeDocument/2006/relationships/notesMaster" Target="/ppt/notesMasters/notesMaster1.xml" Id="R6fe8a2ed073f42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Simple talk track, about 60 seconds.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Opening:</a:t>
            </a:r>
          </a:p>
          <a:p xmlns:a="http://schemas.openxmlformats.org/drawingml/2006/main">
            <a:r>
              <a:t>I built a working two-agent analytics system for the case.</a:t>
            </a:r>
          </a:p>
          <a:p xmlns:a="http://schemas.openxmlformats.org/drawingml/2006/main">
            <a:r>
              <a:t>The goal was not only to call an LLM.</a:t>
            </a:r>
          </a:p>
          <a:p xmlns:a="http://schemas.openxmlformats.org/drawingml/2006/main">
            <a:r>
              <a:t>The goal was to make the analysis safe, controlled, visual, and testable.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1 - Ask -&gt; safe SQL:</a:t>
            </a:r>
          </a:p>
          <a:p xmlns:a="http://schemas.openxmlformats.org/drawingml/2006/main">
            <a:r>
              <a:t>A user can ask a data question in the UI or CLI.</a:t>
            </a:r>
          </a:p>
          <a:p xmlns:a="http://schemas.openxmlformats.org/drawingml/2006/main">
            <a:r>
              <a:t>The Data Analysis Agent turns the question into SQL.</a:t>
            </a:r>
          </a:p>
          <a:p xmlns:a="http://schemas.openxmlformats.org/drawingml/2006/main">
            <a:r>
              <a:t>Before running the SQL, the system checks that it is safe.</a:t>
            </a:r>
          </a:p>
          <a:p xmlns:a="http://schemas.openxmlformats.org/drawingml/2006/main">
            <a:r>
              <a:t>Only read-only SELECT style queries are allowed.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2 - Analyze -&gt; styled charts:</a:t>
            </a:r>
          </a:p>
          <a:p xmlns:a="http://schemas.openxmlformats.org/drawingml/2006/main">
            <a:r>
              <a:t>After the query runs, the result is stored as an AnalysisResult.</a:t>
            </a:r>
          </a:p>
          <a:p xmlns:a="http://schemas.openxmlformats.org/drawingml/2006/main">
            <a:r>
              <a:t>The Data Visualization Agent uses that result.</a:t>
            </a:r>
          </a:p>
          <a:p xmlns:a="http://schemas.openxmlformats.org/drawingml/2006/main">
            <a:r>
              <a:t>It creates a chart and CSV output in the company style.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3 - Role-based access:</a:t>
            </a:r>
          </a:p>
          <a:p xmlns:a="http://schemas.openxmlformats.org/drawingml/2006/main">
            <a:r>
              <a:t>Users do not all see the same databases.</a:t>
            </a:r>
          </a:p>
          <a:p xmlns:a="http://schemas.openxmlformats.org/drawingml/2006/main">
            <a:r>
              <a:t>For example, bob can only access sakila.</a:t>
            </a:r>
          </a:p>
          <a:p xmlns:a="http://schemas.openxmlformats.org/drawingml/2006/main">
            <a:r>
              <a:t>This shows the user restriction requirement.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4 - Add DBs via UI/CLI:</a:t>
            </a:r>
          </a:p>
          <a:p xmlns:a="http://schemas.openxmlformats.org/drawingml/2006/main">
            <a:r>
              <a:t>I added a straightforward database integration path.</a:t>
            </a:r>
          </a:p>
          <a:p xmlns:a="http://schemas.openxmlformats.org/drawingml/2006/main">
            <a:r>
              <a:t>Admin can add a SQLite database from Streamlit or from the CLI.</a:t>
            </a:r>
          </a:p>
          <a:p xmlns:a="http://schemas.openxmlformats.org/drawingml/2006/main">
            <a:r>
              <a:t>The new database can then be granted to selected users.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</a:t>
            </a:r>
          </a:p>
          <a:p xmlns:a="http://schemas.openxmlformats.org/drawingml/2006/main">
            <a:r>
              <a:t>Next, I will show how the system is connected internally.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Simple talk track, about 75 seconds.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Opening:</a:t>
            </a:r>
          </a:p>
          <a:p xmlns:a="http://schemas.openxmlformats.org/drawingml/2006/main">
            <a:r>
              <a:t>This slide shows the real architecture from the code.</a:t>
            </a:r>
          </a:p>
          <a:p xmlns:a="http://schemas.openxmlformats.org/drawingml/2006/main">
            <a:r>
              <a:t>The main point is that the two agents work together through one result object.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Entry points:</a:t>
            </a:r>
          </a:p>
          <a:p xmlns:a="http://schemas.openxmlformats.org/drawingml/2006/main">
            <a:r>
              <a:t>The user can start from Streamlit or from the CLI.</a:t>
            </a:r>
          </a:p>
          <a:p xmlns:a="http://schemas.openxmlformats.org/drawingml/2006/main">
            <a:r>
              <a:t>Both entry points call the same AgentOrchestrator.</a:t>
            </a:r>
          </a:p>
          <a:p xmlns:a="http://schemas.openxmlformats.org/drawingml/2006/main">
            <a:r>
              <a:t>This keeps the behavior consistent.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Control layer:</a:t>
            </a:r>
          </a:p>
          <a:p xmlns:a="http://schemas.openxmlformats.org/drawingml/2006/main">
            <a:r>
              <a:t>The orchestrator is the central coordinator.</a:t>
            </a:r>
          </a:p>
          <a:p xmlns:a="http://schemas.openxmlformats.org/drawingml/2006/main">
            <a:r>
              <a:t>It checks user access with AccessControl.</a:t>
            </a:r>
          </a:p>
          <a:p xmlns:a="http://schemas.openxmlformats.org/drawingml/2006/main">
            <a:r>
              <a:t>It finds the correct SQLite file with DatabaseRegistry.</a:t>
            </a:r>
          </a:p>
          <a:p xmlns:a="http://schemas.openxmlformats.org/drawingml/2006/main">
            <a:r>
              <a:t>DatabaseRegistry can also add or update database entries from the CLI or admin UI.</a:t>
            </a:r>
          </a:p>
          <a:p xmlns:a="http://schemas.openxmlformats.org/drawingml/2006/main">
            <a:r>
              <a:t>Then it starts the analysis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Analysis Agent:</a:t>
            </a:r>
          </a:p>
          <a:p xmlns:a="http://schemas.openxmlformats.org/drawingml/2006/main">
            <a:r>
              <a:t>This agent receives the question and the selected database.</a:t>
            </a:r>
          </a:p>
          <a:p xmlns:a="http://schemas.openxmlformats.org/drawingml/2006/main">
            <a:r>
              <a:t>It reads the database schema.</a:t>
            </a:r>
          </a:p>
          <a:p xmlns:a="http://schemas.openxmlformats.org/drawingml/2006/main">
            <a:r>
              <a:t>It generates SQL using OpenAI or an exact offline template.</a:t>
            </a:r>
          </a:p>
          <a:p xmlns:a="http://schemas.openxmlformats.org/drawingml/2006/main">
            <a:r>
              <a:t>It validates the SQL and runs it through a read-only SQLite connection.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Handoff object:</a:t>
            </a:r>
          </a:p>
          <a:p xmlns:a="http://schemas.openxmlformats.org/drawingml/2006/main">
            <a:r>
              <a:t>The output of the analysis step is AnalysisResult.</a:t>
            </a:r>
          </a:p>
          <a:p xmlns:a="http://schemas.openxmlformats.org/drawingml/2006/main">
            <a:r>
              <a:t>It contains the SQL, summary, DataFrame, and metadata.</a:t>
            </a:r>
          </a:p>
          <a:p xmlns:a="http://schemas.openxmlformats.org/drawingml/2006/main">
            <a:r>
              <a:t>This is the contract between the two agents.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Visualization Agent:</a:t>
            </a:r>
          </a:p>
          <a:p xmlns:a="http://schemas.openxmlformats.org/drawingml/2006/main">
            <a:r>
              <a:t>The visualization agent does not query the database again.</a:t>
            </a:r>
          </a:p>
          <a:p xmlns:a="http://schemas.openxmlformats.org/drawingml/2006/main">
            <a:r>
              <a:t>It receives AnalysisResult from the analysis agent.</a:t>
            </a:r>
          </a:p>
          <a:p xmlns:a="http://schemas.openxmlformats.org/drawingml/2006/main">
            <a:r>
              <a:t>Then it creates the chart and CSV file using the company style.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Support modules:</a:t>
            </a:r>
          </a:p>
          <a:p xmlns:a="http://schemas.openxmlformats.org/drawingml/2006/main">
            <a:r>
              <a:t>SQL generation supports online OpenAI and offline templates.</a:t>
            </a:r>
          </a:p>
          <a:p xmlns:a="http://schemas.openxmlformats.org/drawingml/2006/main">
            <a:r>
              <a:t>Database onboarding supports Streamlit admin UI, CLI, and YAML configuration.</a:t>
            </a:r>
          </a:p>
          <a:p xmlns:a="http://schemas.openxmlformats.org/drawingml/2006/main">
            <a:r>
              <a:t>The safe data path includes schema reading, SQL guarding, and read-only SQLite.</a:t>
            </a:r>
          </a:p>
          <a:p xmlns:a="http://schemas.openxmlformats.org/drawingml/2006/main">
            <a:r>
              <a:t>Chart styling uses ChartFactory and style.yaml.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</a:t>
            </a:r>
          </a:p>
          <a:p xmlns:a="http://schemas.openxmlformats.org/drawingml/2006/main">
            <a:r>
              <a:t>Now I will explain the design choices behind this architecture.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Simple talk track, about 60 seconds.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Opening:</a:t>
            </a:r>
          </a:p>
          <a:p xmlns:a="http://schemas.openxmlformats.org/drawingml/2006/main">
            <a:r>
              <a:t>This slide is about my design choices.</a:t>
            </a:r>
          </a:p>
          <a:p xmlns:a="http://schemas.openxmlformats.org/drawingml/2006/main">
            <a:r>
              <a:t>I wanted the project to feel like a small production-minded MVP.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1 - System design:</a:t>
            </a:r>
          </a:p>
          <a:p xmlns:a="http://schemas.openxmlformats.org/drawingml/2006/main">
            <a:r>
              <a:t>I separated the two agents clearly.</a:t>
            </a:r>
          </a:p>
          <a:p xmlns:a="http://schemas.openxmlformats.org/drawingml/2006/main">
            <a:r>
              <a:t>The analysis agent handles SQL and data.</a:t>
            </a:r>
          </a:p>
          <a:p xmlns:a="http://schemas.openxmlformats.org/drawingml/2006/main">
            <a:r>
              <a:t>The visualization agent handles charts and files.</a:t>
            </a:r>
          </a:p>
          <a:p xmlns:a="http://schemas.openxmlformats.org/drawingml/2006/main">
            <a:r>
              <a:t>The orchestrator connects them and controls the flow.</a:t>
            </a:r>
          </a:p>
          <a:p xmlns:a="http://schemas.openxmlformats.org/drawingml/2006/main">
            <a:r>
              <a:t>This makes the system easier to test and explain.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2 - Safety mindset:</a:t>
            </a:r>
          </a:p>
          <a:p xmlns:a="http://schemas.openxmlformats.org/drawingml/2006/main">
            <a:r>
              <a:t>I did not let model-generated SQL run directly.</a:t>
            </a:r>
          </a:p>
          <a:p xmlns:a="http://schemas.openxmlformats.org/drawingml/2006/main">
            <a:r>
              <a:t>The SQL guard blocks unsafe commands like DROP, DELETE, and UPDATE.</a:t>
            </a:r>
          </a:p>
          <a:p xmlns:a="http://schemas.openxmlformats.org/drawingml/2006/main">
            <a:r>
              <a:t>The system adds a row limit.</a:t>
            </a:r>
          </a:p>
          <a:p xmlns:a="http://schemas.openxmlformats.org/drawingml/2006/main">
            <a:r>
              <a:t>SQLite is opened in read-only mode.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3 - Easy integration:</a:t>
            </a:r>
          </a:p>
          <a:p xmlns:a="http://schemas.openxmlformats.org/drawingml/2006/main">
            <a:r>
              <a:t>I added a clear path for adding new SQLite databases.</a:t>
            </a:r>
          </a:p>
          <a:p xmlns:a="http://schemas.openxmlformats.org/drawingml/2006/main">
            <a:r>
              <a:t>Admin can add a database from the Streamlit sidebar or from the CLI.</a:t>
            </a:r>
          </a:p>
          <a:p xmlns:a="http://schemas.openxmlformats.org/drawingml/2006/main">
            <a:r>
              <a:t>The registry validates the file and writes the database entry to databases.yaml.</a:t>
            </a:r>
          </a:p>
          <a:p xmlns:a="http://schemas.openxmlformats.org/drawingml/2006/main">
            <a:r>
              <a:t>The database can then be granted to selected users.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4 - Product control:</a:t>
            </a:r>
          </a:p>
          <a:p xmlns:a="http://schemas.openxmlformats.org/drawingml/2006/main">
            <a:r>
              <a:t>Users can choose online or offline mode.</a:t>
            </a:r>
          </a:p>
          <a:p xmlns:a="http://schemas.openxmlformats.org/drawingml/2006/main">
            <a:r>
              <a:t>They can choose chart type, row limit, and preview size.</a:t>
            </a:r>
          </a:p>
          <a:p xmlns:a="http://schemas.openxmlformats.org/drawingml/2006/main">
            <a:r>
              <a:t>This makes the agents controllable, not hidden.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5 - Evaluation discipline:</a:t>
            </a:r>
          </a:p>
          <a:p xmlns:a="http://schemas.openxmlformats.org/drawingml/2006/main">
            <a:r>
              <a:t>I added tests for access, SQL safety, analysis, visualization, and the full pipeline.</a:t>
            </a:r>
          </a:p>
          <a:p xmlns:a="http://schemas.openxmlformats.org/drawingml/2006/main">
            <a:r>
              <a:t>For agent systems, a demo is not enough.</a:t>
            </a:r>
          </a:p>
          <a:p xmlns:a="http://schemas.openxmlformats.org/drawingml/2006/main">
            <a:r>
              <a:t>I wanted evidence that the system works in important cases.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</a:t>
            </a:r>
          </a:p>
          <a:p xmlns:a="http://schemas.openxmlformats.org/drawingml/2006/main">
            <a:r>
              <a:t>Next, I will show how these choices appear in the interface.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Simple talk track, about 60 seconds.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Opening:</a:t>
            </a:r>
          </a:p>
          <a:p xmlns:a="http://schemas.openxmlformats.org/drawingml/2006/main">
            <a:r>
              <a:t>The interface is important because it makes the agent pipeline usable.</a:t>
            </a:r>
          </a:p>
          <a:p xmlns:a="http://schemas.openxmlformats.org/drawingml/2006/main">
            <a:r>
              <a:t>A user should be able to control what the agents do and understand the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1 - Permission-aware:</a:t>
            </a:r>
          </a:p>
          <a:p xmlns:a="http://schemas.openxmlformats.org/drawingml/2006/main">
            <a:r>
              <a:t>The user first selects or enters a username.</a:t>
            </a:r>
          </a:p>
          <a:p xmlns:a="http://schemas.openxmlformats.org/drawingml/2006/main">
            <a:r>
              <a:t>The UI only shows databases that this user can access.</a:t>
            </a:r>
          </a:p>
          <a:p xmlns:a="http://schemas.openxmlformats.org/drawingml/2006/main">
            <a:r>
              <a:t>This prevents users from accidentally querying restricted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2 - Controllable:</a:t>
            </a:r>
          </a:p>
          <a:p xmlns:a="http://schemas.openxmlformats.org/drawingml/2006/main">
            <a:r>
              <a:t>The user can choose the database.</a:t>
            </a:r>
          </a:p>
          <a:p xmlns:a="http://schemas.openxmlformats.org/drawingml/2006/main">
            <a:r>
              <a:t>The user can choose online OpenAI mode or offline sample mode.</a:t>
            </a:r>
          </a:p>
          <a:p xmlns:a="http://schemas.openxmlformats.org/drawingml/2006/main">
            <a:r>
              <a:t>The user can choose chart type, row limit, and preview rows.</a:t>
            </a:r>
          </a:p>
          <a:p xmlns:a="http://schemas.openxmlformats.org/drawingml/2006/main">
            <a:r>
              <a:t>These controls match the requirement that agents should be controllable.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3 - Transparent:</a:t>
            </a:r>
          </a:p>
          <a:p xmlns:a="http://schemas.openxmlformats.org/drawingml/2006/main">
            <a:r>
              <a:t>After analysis, the UI shows what happened step by step.</a:t>
            </a:r>
          </a:p>
          <a:p xmlns:a="http://schemas.openxmlformats.org/drawingml/2006/main">
            <a:r>
              <a:t>It shows the SQL source, generated SQL, summary, data preview, chart, and saved files.</a:t>
            </a:r>
          </a:p>
          <a:p xmlns:a="http://schemas.openxmlformats.org/drawingml/2006/main">
            <a:r>
              <a:t>This helps the user trust the result.</a:t>
            </a:r>
          </a:p>
          <a:p xmlns:a="http://schemas.openxmlformats.org/drawingml/2006/main">
            <a:r>
              <a:t>It also helps me debug the system during the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4 - Admin-ready:</a:t>
            </a:r>
          </a:p>
          <a:p xmlns:a="http://schemas.openxmlformats.org/drawingml/2006/main">
            <a:r>
              <a:t>The admin sidebar supports both user management and database management.</a:t>
            </a:r>
          </a:p>
          <a:p xmlns:a="http://schemas.openxmlformats.org/drawingml/2006/main">
            <a:r>
              <a:t>Admin can add a SQLite file, give it a description, and grant access to users.</a:t>
            </a:r>
          </a:p>
          <a:p xmlns:a="http://schemas.openxmlformats.org/drawingml/2006/main">
            <a:r>
              <a:t>For newly added databases, the UI disables offline sample behavior and asks the user to type a custom question in Online OpenAI mode.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 note:</a:t>
            </a:r>
          </a:p>
          <a:p xmlns:a="http://schemas.openxmlformats.org/drawingml/2006/main">
            <a:r>
              <a:t>The CLI has the same core controls.</a:t>
            </a:r>
          </a:p>
          <a:p xmlns:a="http://schemas.openxmlformats.org/drawingml/2006/main">
            <a:r>
              <a:t>This is useful for reproducible runs and as a backup during the live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</a:t>
            </a:r>
          </a:p>
          <a:p xmlns:a="http://schemas.openxmlformats.org/drawingml/2006/main">
            <a:r>
              <a:t>Finally, I will show how I evaluated the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Simple talk track, about 70 seconds.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Opening:</a:t>
            </a:r>
          </a:p>
          <a:p xmlns:a="http://schemas.openxmlformats.org/drawingml/2006/main">
            <a:r>
              <a:t>For evaluation, I focused on the main failure modes of this type of system.</a:t>
            </a:r>
          </a:p>
          <a:p xmlns:a="http://schemas.openxmlformats.org/drawingml/2006/main">
            <a:r>
              <a:t>The test suite has 20 out of 20 tests passing locally.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1 - User access:</a:t>
            </a:r>
          </a:p>
          <a:p xmlns:a="http://schemas.openxmlformats.org/drawingml/2006/main">
            <a:r>
              <a:t>I tested that allowed users can access their databases.</a:t>
            </a:r>
          </a:p>
          <a:p xmlns:a="http://schemas.openxmlformats.org/drawingml/2006/main">
            <a:r>
              <a:t>I tested that blocked users cannot access restricted databases.</a:t>
            </a:r>
          </a:p>
          <a:p xmlns:a="http://schemas.openxmlformats.org/drawingml/2006/main">
            <a:r>
              <a:t>I also tested creating, updating, and unchanged user permissions.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2 - Easy integration:</a:t>
            </a:r>
          </a:p>
          <a:p xmlns:a="http://schemas.openxmlformats.org/drawingml/2006/main">
            <a:r>
              <a:t>I tested adding a new database through the registry API.</a:t>
            </a:r>
          </a:p>
          <a:p xmlns:a="http://schemas.openxmlformats.org/drawingml/2006/main">
            <a:r>
              <a:t>I tested that the SQLite file is validated and persisted in databases.yaml.</a:t>
            </a:r>
          </a:p>
          <a:p xmlns:a="http://schemas.openxmlformats.org/drawingml/2006/main">
            <a:r>
              <a:t>I also tested granting that new database to a new user.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3 - Database layer:</a:t>
            </a:r>
          </a:p>
          <a:p xmlns:a="http://schemas.openxmlformats.org/drawingml/2006/main">
            <a:r>
              <a:t>I tested that the database registry resolves the correct SQLite file.</a:t>
            </a:r>
          </a:p>
          <a:p xmlns:a="http://schemas.openxmlformats.org/drawingml/2006/main">
            <a:r>
              <a:t>I tested that the schema reader can read table and column information.</a:t>
            </a:r>
          </a:p>
          <a:p xmlns:a="http://schemas.openxmlformats.org/drawingml/2006/main">
            <a:r>
              <a:t>I tested that the connector can run a read-only SELECT query.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4 - SQL safety:</a:t>
            </a:r>
          </a:p>
          <a:p xmlns:a="http://schemas.openxmlformats.org/drawingml/2006/main">
            <a:r>
              <a:t>I tested that unsafe mutation SQL is blocked.</a:t>
            </a:r>
          </a:p>
          <a:p xmlns:a="http://schemas.openxmlformats.org/drawingml/2006/main">
            <a:r>
              <a:t>For example, dangerous commands like DELETE or DROP should not run.</a:t>
            </a:r>
          </a:p>
          <a:p xmlns:a="http://schemas.openxmlformats.org/drawingml/2006/main">
            <a:r>
              <a:t>I also tested that the system adds a LIMIT when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5 - Analysis agent:</a:t>
            </a:r>
          </a:p>
          <a:p xmlns:a="http://schemas.openxmlformats.org/drawingml/2006/main">
            <a:r>
              <a:t>I tested that the analysis agent returns expected rows and columns.</a:t>
            </a:r>
          </a:p>
          <a:p xmlns:a="http://schemas.openxmlformats.org/drawingml/2006/main">
            <a:r>
              <a:t>I tested row limits.</a:t>
            </a:r>
          </a:p>
          <a:p xmlns:a="http://schemas.openxmlformats.org/drawingml/2006/main">
            <a:r>
              <a:t>I tested that irrelevant questions are rejected.</a:t>
            </a:r>
          </a:p>
          <a:p xmlns:a="http://schemas.openxmlformats.org/drawingml/2006/main">
            <a:r>
              <a:t>I tested that offline mode only accepts exact sample questions.</a:t>
            </a:r>
          </a:p>
          <a:p xmlns:a="http://schemas.openxmlformats.org/drawingml/2006/main">
            <a:r>
              <a:t>I also tested that newly added databases do not get offline sample templates automatically.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Bullet 6 - Visualization and pipeline:</a:t>
            </a:r>
          </a:p>
          <a:p xmlns:a="http://schemas.openxmlformats.org/drawingml/2006/main">
            <a:r>
              <a:t>I tested that the visualization agent creates chart files and CSV files.</a:t>
            </a:r>
          </a:p>
          <a:p xmlns:a="http://schemas.openxmlformats.org/drawingml/2006/main">
            <a:r>
              <a:t>I tested table fallback for empty data.</a:t>
            </a:r>
          </a:p>
          <a:p xmlns:a="http://schemas.openxmlformats.org/drawingml/2006/main">
            <a:r>
              <a:t>I tested the full two-agent pipeline from analysis to visualization.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Quality checks:</a:t>
            </a:r>
          </a:p>
          <a:p xmlns:a="http://schemas.openxmlformats.org/drawingml/2006/main">
            <a:r>
              <a:t>Correct outputs means the system returns the expected rows, columns, and saved files.</a:t>
            </a:r>
          </a:p>
          <a:p xmlns:a="http://schemas.openxmlformats.org/drawingml/2006/main">
            <a:r>
              <a:t>Controlled risk means unsafe SQL and unauthorized access are blocked before execution.</a:t>
            </a:r>
          </a:p>
          <a:p xmlns:a="http://schemas.openxmlformats.org/drawingml/2006/main">
            <a:r>
              <a:t>Integration path means a new database and a new user can work through the orchestrator end to end.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Production next steps:</a:t>
            </a:r>
          </a:p>
          <a:p xmlns:a="http://schemas.openxmlformats.org/drawingml/2006/main">
            <a:r>
              <a:t>First, I would add a golden SQL and result benchmark for more natural language questions.</a:t>
            </a:r>
          </a:p>
          <a:p xmlns:a="http://schemas.openxmlformats.org/drawingml/2006/main">
            <a:r>
              <a:t>Second, I would replace the YAML demo users with real authentication, roles, and audit logs.</a:t>
            </a:r>
          </a:p>
          <a:p xmlns:a="http://schemas.openxmlformats.org/drawingml/2006/main">
            <a:r>
              <a:t>Third, I would monitor latency, API cost, and runtime errors.</a:t>
            </a:r>
          </a:p>
          <a:p xmlns:a="http://schemas.openxmlformats.org/drawingml/2006/main">
            <a:r>
              <a:t>Fourth, I would deploy the system with managed database access and environment-specific secrets.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Closing:</a:t>
            </a:r>
          </a:p>
          <a:p xmlns:a="http://schemas.openxmlformats.org/drawingml/2006/main">
            <a:r>
              <a:t>My final point is that this is a controlled and testable MVP.</a:t>
            </a:r>
          </a:p>
          <a:p xmlns:a="http://schemas.openxmlformats.org/drawingml/2006/main">
            <a:r>
              <a:t>It satisfies the case requirements and has a clear path to production improvements.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69daf029234b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cae7da39084555" /><Relationship Type="http://schemas.openxmlformats.org/officeDocument/2006/relationships/slideLayout" Target="/ppt/slideLayouts/slideLayout1.xml" Id="R3284a584483948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84a584483948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1d92b4b1243da" /><Relationship Type="http://schemas.openxmlformats.org/officeDocument/2006/relationships/notesSlide" Target="/ppt/notesSlides/notesSlide1.xml" Id="Rbb1f4d547cbb44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96654fb7a4406" /><Relationship Type="http://schemas.openxmlformats.org/officeDocument/2006/relationships/notesSlide" Target="/ppt/notesSlides/notesSlide2.xml" Id="R6df9d0ba73b94d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e4841bb664702" /><Relationship Type="http://schemas.openxmlformats.org/officeDocument/2006/relationships/notesSlide" Target="/ppt/notesSlides/notesSlide3.xml" Id="R19e1edf294fb41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1cf82b76d4340" /><Relationship Type="http://schemas.openxmlformats.org/officeDocument/2006/relationships/notesSlide" Target="/ppt/notesSlides/notesSlide4.xml" Id="Rbcec5472ba3c41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5ee9ba9c54dab" /><Relationship Type="http://schemas.openxmlformats.org/officeDocument/2006/relationships/notesSlide" Target="/ppt/notesSlides/notesSlide5.xml" Id="R18a066163c354e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ft-band">
            <a:extLst xmlns:a="http://schemas.openxmlformats.org/drawingml/2006/main">
              <a:ext uri="{FF2B5EF4-FFF2-40B4-BE49-F238E27FC236}">
                <a16:creationId xmlns:a16="http://schemas.microsoft.com/office/drawing/2014/main" id="{0D737161-7243-42FE-8B95-6B77A1EC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9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3"/>
          </a:solidFill>
          <a:ln xmlns:a="http://schemas.openxmlformats.org/drawingml/2006/main" w="0">
            <a:solidFill>
              <a:srgbClr val="102033"/>
            </a:solidFill>
            <a:prstDash val="solid"/>
          </a:ln>
        </p:spPr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4B4C270C-2278-485B-AE66-A8001369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C5F4"/>
                </a:solidFill>
              </a:defRPr>
            </a:pPr>
            <a:r>
              <a:rPr sz="975" b="1">
                <a:solidFill>
                  <a:srgbClr val="8EC5F4"/>
                </a:solidFill>
              </a:rPr>
              <a:t>AI TALENT LAB CASE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EA277A-862F-44C1-A044-80D991D6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295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Two-agent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analytics system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535DFD2-1BA6-4F5E-B05C-D34FC099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7E6F5"/>
                </a:solidFill>
              </a:defRPr>
            </a:pPr>
            <a:r>
              <a:rPr sz="1650" b="0">
                <a:solidFill>
                  <a:srgbClr val="D7E6F5"/>
                </a:solidFill>
              </a:rPr>
              <a:t>Safe SQL analysis, styled visualization, user restrictions, and automated tests.</a:t>
            </a:r>
          </a:p>
        </p:txBody>
      </p:sp>
      <p:sp>
        <p:nvSpPr>
          <p:cNvPr id="5" name="built-line">
            <a:extLst xmlns:a="http://schemas.openxmlformats.org/drawingml/2006/main">
              <a:ext uri="{FF2B5EF4-FFF2-40B4-BE49-F238E27FC236}">
                <a16:creationId xmlns:a16="http://schemas.microsoft.com/office/drawing/2014/main" id="{E7696276-BD89-4FE0-9AEF-2C7A6C1B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CDE1"/>
                </a:solidFill>
              </a:defRPr>
            </a:pPr>
            <a:r>
              <a:rPr sz="1350" b="0">
                <a:solidFill>
                  <a:srgbClr val="B8CDE1"/>
                </a:solidFill>
              </a:rPr>
              <a:t>Built as a working, testable MVP for the assigned case.</a:t>
            </a:r>
          </a:p>
        </p:txBody>
      </p:sp>
      <p:sp>
        <p:nvSpPr>
          <p:cNvPr id="6" name="right-kicker">
            <a:extLst xmlns:a="http://schemas.openxmlformats.org/drawingml/2006/main">
              <a:ext uri="{FF2B5EF4-FFF2-40B4-BE49-F238E27FC236}">
                <a16:creationId xmlns:a16="http://schemas.microsoft.com/office/drawing/2014/main" id="{546A59EC-3BB0-4C6A-B8D1-195BF6B7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0287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WHAT I BUILT</a:t>
            </a:r>
          </a:p>
        </p:txBody>
      </p:sp>
      <p:sp>
        <p:nvSpPr>
          <p:cNvPr id="7" name="s1-bullet-0">
            <a:extLst xmlns:a="http://schemas.openxmlformats.org/drawingml/2006/main">
              <a:ext uri="{FF2B5EF4-FFF2-40B4-BE49-F238E27FC236}">
                <a16:creationId xmlns:a16="http://schemas.microsoft.com/office/drawing/2014/main" id="{8154BD01-11E5-4AF1-B381-503B90DA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5735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32238"/>
                </a:solidFill>
              </a:defRPr>
            </a:pPr>
            <a:r>
              <a:rPr sz="2100" b="0">
                <a:solidFill>
                  <a:srgbClr val="132238"/>
                </a:solidFill>
              </a:rPr>
              <a:t>Ask -&gt; safe SQL</a:t>
            </a:r>
          </a:p>
        </p:txBody>
      </p:sp>
      <p:sp>
        <p:nvSpPr>
          <p:cNvPr id="8" name="s1-dot-0">
            <a:extLst xmlns:a="http://schemas.openxmlformats.org/drawingml/2006/main">
              <a:ext uri="{FF2B5EF4-FFF2-40B4-BE49-F238E27FC236}">
                <a16:creationId xmlns:a16="http://schemas.microsoft.com/office/drawing/2014/main" id="{F90B6D7C-3B0A-4957-943A-95CA3C6C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1771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1-bullet-1">
            <a:extLst xmlns:a="http://schemas.openxmlformats.org/drawingml/2006/main">
              <a:ext uri="{FF2B5EF4-FFF2-40B4-BE49-F238E27FC236}">
                <a16:creationId xmlns:a16="http://schemas.microsoft.com/office/drawing/2014/main" id="{B5976568-13B6-408D-9291-37244F8D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4003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32238"/>
                </a:solidFill>
              </a:defRPr>
            </a:pPr>
            <a:r>
              <a:rPr sz="2100" b="0">
                <a:solidFill>
                  <a:srgbClr val="132238"/>
                </a:solidFill>
              </a:rPr>
              <a:t>Analyze -&gt; styled charts</a:t>
            </a:r>
          </a:p>
        </p:txBody>
      </p:sp>
      <p:sp>
        <p:nvSpPr>
          <p:cNvPr id="10" name="s1-dot-1">
            <a:extLst xmlns:a="http://schemas.openxmlformats.org/drawingml/2006/main">
              <a:ext uri="{FF2B5EF4-FFF2-40B4-BE49-F238E27FC236}">
                <a16:creationId xmlns:a16="http://schemas.microsoft.com/office/drawing/2014/main" id="{721FB421-2F51-4A49-8E31-123FD2D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514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1-bullet-2">
            <a:extLst xmlns:a="http://schemas.openxmlformats.org/drawingml/2006/main">
              <a:ext uri="{FF2B5EF4-FFF2-40B4-BE49-F238E27FC236}">
                <a16:creationId xmlns:a16="http://schemas.microsoft.com/office/drawing/2014/main" id="{8EB97E72-999D-46C0-8A26-1C056774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14325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32238"/>
                </a:solidFill>
              </a:defRPr>
            </a:pPr>
            <a:r>
              <a:rPr sz="2100" b="0">
                <a:solidFill>
                  <a:srgbClr val="132238"/>
                </a:solidFill>
              </a:rPr>
              <a:t>Role-based access</a:t>
            </a:r>
          </a:p>
        </p:txBody>
      </p:sp>
      <p:sp>
        <p:nvSpPr>
          <p:cNvPr id="12" name="s1-dot-2">
            <a:extLst xmlns:a="http://schemas.openxmlformats.org/drawingml/2006/main">
              <a:ext uri="{FF2B5EF4-FFF2-40B4-BE49-F238E27FC236}">
                <a16:creationId xmlns:a16="http://schemas.microsoft.com/office/drawing/2014/main" id="{A44BE3CA-8250-4EFA-A3DC-E91DF5D1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257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1-bullet-3">
            <a:extLst xmlns:a="http://schemas.openxmlformats.org/drawingml/2006/main">
              <a:ext uri="{FF2B5EF4-FFF2-40B4-BE49-F238E27FC236}">
                <a16:creationId xmlns:a16="http://schemas.microsoft.com/office/drawing/2014/main" id="{2717A56B-2B53-4E21-832E-00967F84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8862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32238"/>
                </a:solidFill>
              </a:defRPr>
            </a:pPr>
            <a:r>
              <a:rPr sz="2100" b="0">
                <a:solidFill>
                  <a:srgbClr val="132238"/>
                </a:solidFill>
              </a:rPr>
              <a:t>Add DBs via UI/CLI</a:t>
            </a:r>
          </a:p>
        </p:txBody>
      </p:sp>
      <p:sp>
        <p:nvSpPr>
          <p:cNvPr id="14" name="s1-dot-3">
            <a:extLst xmlns:a="http://schemas.openxmlformats.org/drawingml/2006/main">
              <a:ext uri="{FF2B5EF4-FFF2-40B4-BE49-F238E27FC236}">
                <a16:creationId xmlns:a16="http://schemas.microsoft.com/office/drawing/2014/main" id="{EF888D78-D305-41EB-8B23-93577B82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F0E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174897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kicker">
            <a:extLst xmlns:a="http://schemas.openxmlformats.org/drawingml/2006/main">
              <a:ext uri="{FF2B5EF4-FFF2-40B4-BE49-F238E27FC236}">
                <a16:creationId xmlns:a16="http://schemas.microsoft.com/office/drawing/2014/main" id="{767E7D9A-F9B7-4287-9B79-18FA85BE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AI TALENT LAB CASE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B019FD5-0971-4504-94BE-4331D30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32238"/>
                </a:solidFill>
              </a:defRPr>
            </a:pPr>
            <a:r>
              <a:rPr sz="2850" b="1">
                <a:solidFill>
                  <a:srgbClr val="132238"/>
                </a:solidFill>
              </a:rPr>
              <a:t>Two agents collaborate through one result object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12A6F7C-4A12-434D-8202-E1C2E1BD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BF199B04-632E-4C40-8537-1E82EB86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695"/>
                </a:solidFill>
              </a:defRPr>
            </a:pPr>
            <a:r>
              <a:rPr sz="900" b="0">
                <a:solidFill>
                  <a:srgbClr val="7A8695"/>
                </a:solidFill>
              </a:rPr>
              <a:t>Autonomous AI Agents Case  |  2/5</a:t>
            </a:r>
          </a:p>
        </p:txBody>
      </p:sp>
      <p:sp>
        <p:nvSpPr>
          <p:cNvPr id="5" name="section-entry points">
            <a:extLst xmlns:a="http://schemas.openxmlformats.org/drawingml/2006/main">
              <a:ext uri="{FF2B5EF4-FFF2-40B4-BE49-F238E27FC236}">
                <a16:creationId xmlns:a16="http://schemas.microsoft.com/office/drawing/2014/main" id="{98DED9E9-0893-475D-A572-787AE568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7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6" name="section-label-entry points">
            <a:extLst xmlns:a="http://schemas.openxmlformats.org/drawingml/2006/main">
              <a:ext uri="{FF2B5EF4-FFF2-40B4-BE49-F238E27FC236}">
                <a16:creationId xmlns:a16="http://schemas.microsoft.com/office/drawing/2014/main" id="{76186EBC-30B5-4D61-BA97-F095A557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ENTRY POINTS</a:t>
            </a:r>
          </a:p>
        </p:txBody>
      </p:sp>
      <p:sp>
        <p:nvSpPr>
          <p:cNvPr id="7" name="section-control">
            <a:extLst xmlns:a="http://schemas.openxmlformats.org/drawingml/2006/main">
              <a:ext uri="{FF2B5EF4-FFF2-40B4-BE49-F238E27FC236}">
                <a16:creationId xmlns:a16="http://schemas.microsoft.com/office/drawing/2014/main" id="{4AA4CB00-D363-47E9-A869-4F915D4E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0250"/>
            <a:ext cx="47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F0E"/>
          </a:solidFill>
          <a:ln xmlns:a="http://schemas.openxmlformats.org/drawingml/2006/main" w="0">
            <a:solidFill>
              <a:srgbClr val="FF7F0E"/>
            </a:solidFill>
            <a:prstDash val="solid"/>
          </a:ln>
        </p:spPr>
      </p:sp>
      <p:sp>
        <p:nvSpPr>
          <p:cNvPr id="8" name="section-label-control">
            <a:extLst xmlns:a="http://schemas.openxmlformats.org/drawingml/2006/main">
              <a:ext uri="{FF2B5EF4-FFF2-40B4-BE49-F238E27FC236}">
                <a16:creationId xmlns:a16="http://schemas.microsoft.com/office/drawing/2014/main" id="{6548A9E1-38B8-4342-9BE3-9ED20FCC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431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CONTROL</a:t>
            </a:r>
          </a:p>
        </p:txBody>
      </p:sp>
      <p:sp>
        <p:nvSpPr>
          <p:cNvPr id="9" name="section-support modules">
            <a:extLst xmlns:a="http://schemas.openxmlformats.org/drawingml/2006/main">
              <a:ext uri="{FF2B5EF4-FFF2-40B4-BE49-F238E27FC236}">
                <a16:creationId xmlns:a16="http://schemas.microsoft.com/office/drawing/2014/main" id="{7D909916-C06E-419C-8DFB-3D7553FB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47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F0E"/>
          </a:solidFill>
          <a:ln xmlns:a="http://schemas.openxmlformats.org/drawingml/2006/main" w="0">
            <a:solidFill>
              <a:srgbClr val="FF7F0E"/>
            </a:solidFill>
            <a:prstDash val="solid"/>
          </a:ln>
        </p:spPr>
      </p:sp>
      <p:sp>
        <p:nvSpPr>
          <p:cNvPr id="10" name="section-label-support modules">
            <a:extLst xmlns:a="http://schemas.openxmlformats.org/drawingml/2006/main">
              <a:ext uri="{FF2B5EF4-FFF2-40B4-BE49-F238E27FC236}">
                <a16:creationId xmlns:a16="http://schemas.microsoft.com/office/drawing/2014/main" id="{F74E2CA6-169C-4DF3-B1A4-CEEFABE3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57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SUPPORT MODULES</a:t>
            </a:r>
          </a:p>
        </p:txBody>
      </p:sp>
      <p:sp>
        <p:nvSpPr>
          <p:cNvPr id="11" name="section-results">
            <a:extLst xmlns:a="http://schemas.openxmlformats.org/drawingml/2006/main">
              <a:ext uri="{FF2B5EF4-FFF2-40B4-BE49-F238E27FC236}">
                <a16:creationId xmlns:a16="http://schemas.microsoft.com/office/drawing/2014/main" id="{3178AA68-8C07-4E2F-82BA-87B6F87B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43200"/>
            <a:ext cx="47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2" name="section-label-results">
            <a:extLst xmlns:a="http://schemas.openxmlformats.org/drawingml/2006/main">
              <a:ext uri="{FF2B5EF4-FFF2-40B4-BE49-F238E27FC236}">
                <a16:creationId xmlns:a16="http://schemas.microsoft.com/office/drawing/2014/main" id="{E3D9FB7F-6588-477F-8CF3-C7855959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8605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RESULTS</a:t>
            </a:r>
          </a:p>
        </p:txBody>
      </p:sp>
      <p:sp>
        <p:nvSpPr>
          <p:cNvPr id="13" name="streamlit-ui">
            <a:extLst xmlns:a="http://schemas.openxmlformats.org/drawingml/2006/main">
              <a:ext uri="{FF2B5EF4-FFF2-40B4-BE49-F238E27FC236}">
                <a16:creationId xmlns:a16="http://schemas.microsoft.com/office/drawing/2014/main" id="{4F4828E1-D8D7-494A-92A4-BB72164F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1925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streamlit-ui-title">
            <a:extLst xmlns:a="http://schemas.openxmlformats.org/drawingml/2006/main">
              <a:ext uri="{FF2B5EF4-FFF2-40B4-BE49-F238E27FC236}">
                <a16:creationId xmlns:a16="http://schemas.microsoft.com/office/drawing/2014/main" id="{6BEF825E-1287-4731-8755-BAFD730B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32238"/>
                </a:solidFill>
              </a:defRPr>
            </a:pPr>
            <a:r>
              <a:rPr sz="1350" b="1">
                <a:solidFill>
                  <a:srgbClr val="132238"/>
                </a:solidFill>
              </a:rPr>
              <a:t>Streamlit UI</a:t>
            </a:r>
          </a:p>
        </p:txBody>
      </p:sp>
      <p:sp>
        <p:nvSpPr>
          <p:cNvPr id="15" name="streamlit-ui-body">
            <a:extLst xmlns:a="http://schemas.openxmlformats.org/drawingml/2006/main">
              <a:ext uri="{FF2B5EF4-FFF2-40B4-BE49-F238E27FC236}">
                <a16:creationId xmlns:a16="http://schemas.microsoft.com/office/drawing/2014/main" id="{2686B919-4B87-4E44-B434-0CE05137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guided user controls</a:t>
            </a:r>
          </a:p>
        </p:txBody>
      </p:sp>
      <p:sp>
        <p:nvSpPr>
          <p:cNvPr id="16" name="cli-entry">
            <a:extLst xmlns:a="http://schemas.openxmlformats.org/drawingml/2006/main">
              <a:ext uri="{FF2B5EF4-FFF2-40B4-BE49-F238E27FC236}">
                <a16:creationId xmlns:a16="http://schemas.microsoft.com/office/drawing/2014/main" id="{506BCBC8-5B7F-49C6-966B-0711D395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161925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cli-entry-title">
            <a:extLst xmlns:a="http://schemas.openxmlformats.org/drawingml/2006/main">
              <a:ext uri="{FF2B5EF4-FFF2-40B4-BE49-F238E27FC236}">
                <a16:creationId xmlns:a16="http://schemas.microsoft.com/office/drawing/2014/main" id="{29ABB027-6DB5-48DF-860B-5F92F04A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32238"/>
                </a:solidFill>
              </a:defRPr>
            </a:pPr>
            <a:r>
              <a:rPr sz="1350" b="1">
                <a:solidFill>
                  <a:srgbClr val="132238"/>
                </a:solidFill>
              </a:rPr>
              <a:t>CLI</a:t>
            </a:r>
          </a:p>
        </p:txBody>
      </p:sp>
      <p:sp>
        <p:nvSpPr>
          <p:cNvPr id="18" name="cli-entry-body">
            <a:extLst xmlns:a="http://schemas.openxmlformats.org/drawingml/2006/main">
              <a:ext uri="{FF2B5EF4-FFF2-40B4-BE49-F238E27FC236}">
                <a16:creationId xmlns:a16="http://schemas.microsoft.com/office/drawing/2014/main" id="{C8206FA4-0566-41B5-8772-4A7C646A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same backend path</a:t>
            </a:r>
          </a:p>
        </p:txBody>
      </p:sp>
      <p:sp>
        <p:nvSpPr>
          <p:cNvPr id="19" name="agent-orchestrator">
            <a:extLst xmlns:a="http://schemas.openxmlformats.org/drawingml/2006/main">
              <a:ext uri="{FF2B5EF4-FFF2-40B4-BE49-F238E27FC236}">
                <a16:creationId xmlns:a16="http://schemas.microsoft.com/office/drawing/2014/main" id="{A7FB4BA5-4DBF-41C1-A0E0-44D0B0FE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43150"/>
            <a:ext cx="268605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9525">
            <a:solidFill>
              <a:srgbClr val="FF7F0E"/>
            </a:solidFill>
            <a:prstDash val="solid"/>
          </a:ln>
        </p:spPr>
      </p:sp>
      <p:sp>
        <p:nvSpPr>
          <p:cNvPr id="20" name="agent-orchestrator-title">
            <a:extLst xmlns:a="http://schemas.openxmlformats.org/drawingml/2006/main">
              <a:ext uri="{FF2B5EF4-FFF2-40B4-BE49-F238E27FC236}">
                <a16:creationId xmlns:a16="http://schemas.microsoft.com/office/drawing/2014/main" id="{5F074E8C-BE65-4A52-BB79-738519F6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574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32238"/>
                </a:solidFill>
              </a:defRPr>
            </a:pPr>
            <a:r>
              <a:rPr sz="1500" b="1">
                <a:solidFill>
                  <a:srgbClr val="132238"/>
                </a:solidFill>
              </a:rPr>
              <a:t>AgentOrchestrator</a:t>
            </a:r>
          </a:p>
        </p:txBody>
      </p:sp>
      <p:sp>
        <p:nvSpPr>
          <p:cNvPr id="21" name="agent-orchestrator-body">
            <a:extLst xmlns:a="http://schemas.openxmlformats.org/drawingml/2006/main">
              <a:ext uri="{FF2B5EF4-FFF2-40B4-BE49-F238E27FC236}">
                <a16:creationId xmlns:a16="http://schemas.microsoft.com/office/drawing/2014/main" id="{1089453C-A188-4C3D-8E3F-9651D6BE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72415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access check + DB lookup + agent handoff</a:t>
            </a:r>
          </a:p>
        </p:txBody>
      </p:sp>
      <p:sp>
        <p:nvSpPr>
          <p:cNvPr id="22" name="access-control">
            <a:extLst xmlns:a="http://schemas.openxmlformats.org/drawingml/2006/main">
              <a:ext uri="{FF2B5EF4-FFF2-40B4-BE49-F238E27FC236}">
                <a16:creationId xmlns:a16="http://schemas.microsoft.com/office/drawing/2014/main" id="{87A85BBA-4FEF-4129-9272-CBA6120E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1809750" cy="590550"/>
          </a:xfrm>
          <a:prstGeom xmlns:a="http://schemas.openxmlformats.org/drawingml/2006/main" prst="roundRect">
            <a:avLst>
              <a:gd name="adj" fmla="val 2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access-control-title">
            <a:extLst xmlns:a="http://schemas.openxmlformats.org/drawingml/2006/main">
              <a:ext uri="{FF2B5EF4-FFF2-40B4-BE49-F238E27FC236}">
                <a16:creationId xmlns:a16="http://schemas.microsoft.com/office/drawing/2014/main" id="{5F11C986-B674-462C-8322-2626D5EA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980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32238"/>
                </a:solidFill>
              </a:defRPr>
            </a:pPr>
            <a:r>
              <a:rPr sz="1350" b="1">
                <a:solidFill>
                  <a:srgbClr val="132238"/>
                </a:solidFill>
              </a:rPr>
              <a:t>AccessControl</a:t>
            </a:r>
          </a:p>
        </p:txBody>
      </p:sp>
      <p:sp>
        <p:nvSpPr>
          <p:cNvPr id="24" name="access-control-body">
            <a:extLst xmlns:a="http://schemas.openxmlformats.org/drawingml/2006/main">
              <a:ext uri="{FF2B5EF4-FFF2-40B4-BE49-F238E27FC236}">
                <a16:creationId xmlns:a16="http://schemas.microsoft.com/office/drawing/2014/main" id="{4CDD23EE-6E85-42C3-9121-B3D7D9F0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76500"/>
            <a:ext cx="1543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loads users.yaml</a:t>
            </a:r>
          </a:p>
        </p:txBody>
      </p:sp>
      <p:sp>
        <p:nvSpPr>
          <p:cNvPr id="25" name="database-registry">
            <a:extLst xmlns:a="http://schemas.openxmlformats.org/drawingml/2006/main">
              <a:ext uri="{FF2B5EF4-FFF2-40B4-BE49-F238E27FC236}">
                <a16:creationId xmlns:a16="http://schemas.microsoft.com/office/drawing/2014/main" id="{D4139EBF-F27D-41B3-AAE9-0759BBD2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95600"/>
            <a:ext cx="1809750" cy="590550"/>
          </a:xfrm>
          <a:prstGeom xmlns:a="http://schemas.openxmlformats.org/drawingml/2006/main" prst="roundRect">
            <a:avLst>
              <a:gd name="adj" fmla="val 2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6" name="database-registry-title">
            <a:extLst xmlns:a="http://schemas.openxmlformats.org/drawingml/2006/main">
              <a:ext uri="{FF2B5EF4-FFF2-40B4-BE49-F238E27FC236}">
                <a16:creationId xmlns:a16="http://schemas.microsoft.com/office/drawing/2014/main" id="{C3E44661-58D7-40F4-979A-FA9392B6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0990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32238"/>
                </a:solidFill>
              </a:defRPr>
            </a:pPr>
            <a:r>
              <a:rPr sz="1350" b="1">
                <a:solidFill>
                  <a:srgbClr val="132238"/>
                </a:solidFill>
              </a:rPr>
              <a:t>DatabaseRegistry</a:t>
            </a:r>
          </a:p>
        </p:txBody>
      </p:sp>
      <p:sp>
        <p:nvSpPr>
          <p:cNvPr id="27" name="database-registry-body">
            <a:extLst xmlns:a="http://schemas.openxmlformats.org/drawingml/2006/main">
              <a:ext uri="{FF2B5EF4-FFF2-40B4-BE49-F238E27FC236}">
                <a16:creationId xmlns:a16="http://schemas.microsoft.com/office/drawing/2014/main" id="{7E326C74-6C95-4966-8453-2D5D2B07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76600"/>
            <a:ext cx="1543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loads + updates databases.yaml</a:t>
            </a:r>
          </a:p>
        </p:txBody>
      </p:sp>
      <p:sp>
        <p:nvSpPr>
          <p:cNvPr id="28" name="agent-collaboration-zone">
            <a:extLst xmlns:a="http://schemas.openxmlformats.org/drawingml/2006/main">
              <a:ext uri="{FF2B5EF4-FFF2-40B4-BE49-F238E27FC236}">
                <a16:creationId xmlns:a16="http://schemas.microsoft.com/office/drawing/2014/main" id="{BE437034-417E-4725-9EEE-7FE4AE95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67150"/>
            <a:ext cx="67056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A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section-two-agent layer">
            <a:extLst xmlns:a="http://schemas.openxmlformats.org/drawingml/2006/main">
              <a:ext uri="{FF2B5EF4-FFF2-40B4-BE49-F238E27FC236}">
                <a16:creationId xmlns:a16="http://schemas.microsoft.com/office/drawing/2014/main" id="{E60213F7-002F-4110-BE65-30A40145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95700"/>
            <a:ext cx="47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30" name="section-label-two-agent layer">
            <a:extLst xmlns:a="http://schemas.openxmlformats.org/drawingml/2006/main">
              <a:ext uri="{FF2B5EF4-FFF2-40B4-BE49-F238E27FC236}">
                <a16:creationId xmlns:a16="http://schemas.microsoft.com/office/drawing/2014/main" id="{12EA30BB-0B24-49E2-AFBF-487C96FD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385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TWO-AGENT LAYER</a:t>
            </a:r>
          </a:p>
        </p:txBody>
      </p:sp>
      <p:sp>
        <p:nvSpPr>
          <p:cNvPr id="31" name="agent-collaboration-title">
            <a:extLst xmlns:a="http://schemas.openxmlformats.org/drawingml/2006/main">
              <a:ext uri="{FF2B5EF4-FFF2-40B4-BE49-F238E27FC236}">
                <a16:creationId xmlns:a16="http://schemas.microsoft.com/office/drawing/2014/main" id="{496F3A19-AF94-404B-B1F3-FDE117C8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92430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E6B7A"/>
                </a:solidFill>
              </a:defRPr>
            </a:pPr>
            <a:r>
              <a:rPr sz="1125" b="1">
                <a:solidFill>
                  <a:srgbClr val="5E6B7A"/>
                </a:solidFill>
              </a:rPr>
              <a:t>AnalysisResult is the contract between the two agents</a:t>
            </a:r>
          </a:p>
        </p:txBody>
      </p:sp>
      <p:sp>
        <p:nvSpPr>
          <p:cNvPr id="32" name="analysis-agent">
            <a:extLst xmlns:a="http://schemas.openxmlformats.org/drawingml/2006/main">
              <a:ext uri="{FF2B5EF4-FFF2-40B4-BE49-F238E27FC236}">
                <a16:creationId xmlns:a16="http://schemas.microsoft.com/office/drawing/2014/main" id="{2CDA7956-AF3D-4A77-B3B2-01430FFB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2686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DF6FD"/>
          </a:solidFill>
          <a:ln xmlns:a="http://schemas.openxmlformats.org/drawingml/2006/main" w="9525">
            <a:solidFill>
              <a:srgbClr val="1F77B4"/>
            </a:solidFill>
            <a:prstDash val="solid"/>
          </a:ln>
        </p:spPr>
      </p:sp>
      <p:sp>
        <p:nvSpPr>
          <p:cNvPr id="33" name="analysis-agent-title">
            <a:extLst xmlns:a="http://schemas.openxmlformats.org/drawingml/2006/main">
              <a:ext uri="{FF2B5EF4-FFF2-40B4-BE49-F238E27FC236}">
                <a16:creationId xmlns:a16="http://schemas.microsoft.com/office/drawing/2014/main" id="{75FF3BA7-C55A-4A73-9D2D-469F6ECB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243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32238"/>
                </a:solidFill>
              </a:defRPr>
            </a:pPr>
            <a:r>
              <a:rPr sz="1425" b="1">
                <a:solidFill>
                  <a:srgbClr val="132238"/>
                </a:solidFill>
              </a:rPr>
              <a:t>Data Analysis Agent</a:t>
            </a:r>
          </a:p>
        </p:txBody>
      </p:sp>
      <p:sp>
        <p:nvSpPr>
          <p:cNvPr id="34" name="analysis-agent-body">
            <a:extLst xmlns:a="http://schemas.openxmlformats.org/drawingml/2006/main">
              <a:ext uri="{FF2B5EF4-FFF2-40B4-BE49-F238E27FC236}">
                <a16:creationId xmlns:a16="http://schemas.microsoft.com/office/drawing/2014/main" id="{BD009118-F55E-41C9-AD5B-E0D5848C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591050"/>
            <a:ext cx="2419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question -&gt; safe SQL -&gt; DataFrame</a:t>
            </a:r>
          </a:p>
        </p:txBody>
      </p:sp>
      <p:sp>
        <p:nvSpPr>
          <p:cNvPr id="35" name="visualization-agent">
            <a:extLst xmlns:a="http://schemas.openxmlformats.org/drawingml/2006/main">
              <a:ext uri="{FF2B5EF4-FFF2-40B4-BE49-F238E27FC236}">
                <a16:creationId xmlns:a16="http://schemas.microsoft.com/office/drawing/2014/main" id="{AFA4DE87-1078-44CC-9B6D-A56680B6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10050"/>
            <a:ext cx="2686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6" name="visualization-agent-title">
            <a:extLst xmlns:a="http://schemas.openxmlformats.org/drawingml/2006/main">
              <a:ext uri="{FF2B5EF4-FFF2-40B4-BE49-F238E27FC236}">
                <a16:creationId xmlns:a16="http://schemas.microsoft.com/office/drawing/2014/main" id="{0D3AE71A-295D-4EB3-935B-21BCCF22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243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32238"/>
                </a:solidFill>
              </a:defRPr>
            </a:pPr>
            <a:r>
              <a:rPr sz="1425" b="1">
                <a:solidFill>
                  <a:srgbClr val="132238"/>
                </a:solidFill>
              </a:rPr>
              <a:t>Data Visualization Agent</a:t>
            </a:r>
          </a:p>
        </p:txBody>
      </p:sp>
      <p:sp>
        <p:nvSpPr>
          <p:cNvPr id="37" name="visualization-agent-body">
            <a:extLst xmlns:a="http://schemas.openxmlformats.org/drawingml/2006/main">
              <a:ext uri="{FF2B5EF4-FFF2-40B4-BE49-F238E27FC236}">
                <a16:creationId xmlns:a16="http://schemas.microsoft.com/office/drawing/2014/main" id="{BFC15E21-E31C-44A6-A745-3B922851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2419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AnalysisResult -&gt; chart + CSV</a:t>
            </a:r>
          </a:p>
        </p:txBody>
      </p:sp>
      <p:sp>
        <p:nvSpPr>
          <p:cNvPr id="38" name="sql-source">
            <a:extLst xmlns:a="http://schemas.openxmlformats.org/drawingml/2006/main">
              <a:ext uri="{FF2B5EF4-FFF2-40B4-BE49-F238E27FC236}">
                <a16:creationId xmlns:a16="http://schemas.microsoft.com/office/drawing/2014/main" id="{90EC5D44-E547-4454-934E-0A47AE6E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00700"/>
            <a:ext cx="1809750" cy="647700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9" name="sql-source-title">
            <a:extLst xmlns:a="http://schemas.openxmlformats.org/drawingml/2006/main">
              <a:ext uri="{FF2B5EF4-FFF2-40B4-BE49-F238E27FC236}">
                <a16:creationId xmlns:a16="http://schemas.microsoft.com/office/drawing/2014/main" id="{085E1F60-C8FA-4ABB-8532-A15C79EC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32238"/>
                </a:solidFill>
              </a:defRPr>
            </a:pPr>
            <a:r>
              <a:rPr sz="1125" b="1">
                <a:solidFill>
                  <a:srgbClr val="132238"/>
                </a:solidFill>
              </a:rPr>
              <a:t>SQL generation</a:t>
            </a:r>
          </a:p>
        </p:txBody>
      </p:sp>
      <p:sp>
        <p:nvSpPr>
          <p:cNvPr id="40" name="sql-source-body">
            <a:extLst xmlns:a="http://schemas.openxmlformats.org/drawingml/2006/main">
              <a:ext uri="{FF2B5EF4-FFF2-40B4-BE49-F238E27FC236}">
                <a16:creationId xmlns:a16="http://schemas.microsoft.com/office/drawing/2014/main" id="{0153B5AE-7D87-4EEA-8193-A9E3B1AA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81700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B7A"/>
                </a:solidFill>
              </a:defRPr>
            </a:pPr>
            <a:r>
              <a:rPr sz="825" b="0">
                <a:solidFill>
                  <a:srgbClr val="5E6B7A"/>
                </a:solidFill>
              </a:rPr>
              <a:t>OpenAI or offline templates</a:t>
            </a:r>
          </a:p>
        </p:txBody>
      </p:sp>
      <p:sp>
        <p:nvSpPr>
          <p:cNvPr id="41" name="database-onboarding">
            <a:extLst xmlns:a="http://schemas.openxmlformats.org/drawingml/2006/main">
              <a:ext uri="{FF2B5EF4-FFF2-40B4-BE49-F238E27FC236}">
                <a16:creationId xmlns:a16="http://schemas.microsoft.com/office/drawing/2014/main" id="{06D22518-F065-4A30-86DC-AF2D2F9F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600700"/>
            <a:ext cx="1809750" cy="647700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2" name="database-onboarding-title">
            <a:extLst xmlns:a="http://schemas.openxmlformats.org/drawingml/2006/main">
              <a:ext uri="{FF2B5EF4-FFF2-40B4-BE49-F238E27FC236}">
                <a16:creationId xmlns:a16="http://schemas.microsoft.com/office/drawing/2014/main" id="{BBE9A85B-E63E-49D9-A145-30256982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71500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32238"/>
                </a:solidFill>
              </a:defRPr>
            </a:pPr>
            <a:r>
              <a:rPr sz="1125" b="1">
                <a:solidFill>
                  <a:srgbClr val="132238"/>
                </a:solidFill>
              </a:rPr>
              <a:t>DB onboarding</a:t>
            </a:r>
          </a:p>
        </p:txBody>
      </p:sp>
      <p:sp>
        <p:nvSpPr>
          <p:cNvPr id="43" name="database-onboarding-body">
            <a:extLst xmlns:a="http://schemas.openxmlformats.org/drawingml/2006/main">
              <a:ext uri="{FF2B5EF4-FFF2-40B4-BE49-F238E27FC236}">
                <a16:creationId xmlns:a16="http://schemas.microsoft.com/office/drawing/2014/main" id="{C01CFA38-3AF5-496E-9AE8-1998488C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981700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B7A"/>
                </a:solidFill>
              </a:defRPr>
            </a:pPr>
            <a:r>
              <a:rPr sz="825" b="0">
                <a:solidFill>
                  <a:srgbClr val="5E6B7A"/>
                </a:solidFill>
              </a:rPr>
              <a:t>Streamlit + CLI + YAML</a:t>
            </a:r>
          </a:p>
        </p:txBody>
      </p:sp>
      <p:sp>
        <p:nvSpPr>
          <p:cNvPr id="44" name="data-safety">
            <a:extLst xmlns:a="http://schemas.openxmlformats.org/drawingml/2006/main">
              <a:ext uri="{FF2B5EF4-FFF2-40B4-BE49-F238E27FC236}">
                <a16:creationId xmlns:a16="http://schemas.microsoft.com/office/drawing/2014/main" id="{76716C2D-4069-4671-A689-1AD96756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00700"/>
            <a:ext cx="1981200" cy="647700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5" name="data-safety-title">
            <a:extLst xmlns:a="http://schemas.openxmlformats.org/drawingml/2006/main">
              <a:ext uri="{FF2B5EF4-FFF2-40B4-BE49-F238E27FC236}">
                <a16:creationId xmlns:a16="http://schemas.microsoft.com/office/drawing/2014/main" id="{12DC5CFF-201A-4C86-B301-3B1D3ED3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1500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32238"/>
                </a:solidFill>
              </a:defRPr>
            </a:pPr>
            <a:r>
              <a:rPr sz="1125" b="1">
                <a:solidFill>
                  <a:srgbClr val="132238"/>
                </a:solidFill>
              </a:rPr>
              <a:t>Safe data path</a:t>
            </a:r>
          </a:p>
        </p:txBody>
      </p:sp>
      <p:sp>
        <p:nvSpPr>
          <p:cNvPr id="46" name="data-safety-body">
            <a:extLst xmlns:a="http://schemas.openxmlformats.org/drawingml/2006/main">
              <a:ext uri="{FF2B5EF4-FFF2-40B4-BE49-F238E27FC236}">
                <a16:creationId xmlns:a16="http://schemas.microsoft.com/office/drawing/2014/main" id="{FE2F6BCC-7769-4FBD-8B3F-266EF21E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981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B7A"/>
                </a:solidFill>
              </a:defRPr>
            </a:pPr>
            <a:r>
              <a:rPr sz="825" b="0">
                <a:solidFill>
                  <a:srgbClr val="5E6B7A"/>
                </a:solidFill>
              </a:rPr>
              <a:t>SQLGuard + read-only SQLite</a:t>
            </a:r>
          </a:p>
        </p:txBody>
      </p:sp>
      <p:sp>
        <p:nvSpPr>
          <p:cNvPr id="47" name="chart-factory">
            <a:extLst xmlns:a="http://schemas.openxmlformats.org/drawingml/2006/main">
              <a:ext uri="{FF2B5EF4-FFF2-40B4-BE49-F238E27FC236}">
                <a16:creationId xmlns:a16="http://schemas.microsoft.com/office/drawing/2014/main" id="{75A9A410-616A-464A-AEF8-E11ABF15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600700"/>
            <a:ext cx="1809750" cy="647700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8" name="chart-factory-title">
            <a:extLst xmlns:a="http://schemas.openxmlformats.org/drawingml/2006/main">
              <a:ext uri="{FF2B5EF4-FFF2-40B4-BE49-F238E27FC236}">
                <a16:creationId xmlns:a16="http://schemas.microsoft.com/office/drawing/2014/main" id="{CEBB1C64-972D-431D-B966-80B2531E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71500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32238"/>
                </a:solidFill>
              </a:defRPr>
            </a:pPr>
            <a:r>
              <a:rPr sz="1125" b="1">
                <a:solidFill>
                  <a:srgbClr val="132238"/>
                </a:solidFill>
              </a:rPr>
              <a:t>Chart styling</a:t>
            </a:r>
          </a:p>
        </p:txBody>
      </p:sp>
      <p:sp>
        <p:nvSpPr>
          <p:cNvPr id="49" name="chart-factory-body">
            <a:extLst xmlns:a="http://schemas.openxmlformats.org/drawingml/2006/main">
              <a:ext uri="{FF2B5EF4-FFF2-40B4-BE49-F238E27FC236}">
                <a16:creationId xmlns:a16="http://schemas.microsoft.com/office/drawing/2014/main" id="{2C7B71DB-3D1A-46EA-A068-DF60A881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981700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B7A"/>
                </a:solidFill>
              </a:defRPr>
            </a:pPr>
            <a:r>
              <a:rPr sz="825" b="0">
                <a:solidFill>
                  <a:srgbClr val="5E6B7A"/>
                </a:solidFill>
              </a:rPr>
              <a:t>ChartFactory + company style.yaml</a:t>
            </a:r>
          </a:p>
        </p:txBody>
      </p:sp>
      <p:sp>
        <p:nvSpPr>
          <p:cNvPr id="50" name="final-output">
            <a:extLst xmlns:a="http://schemas.openxmlformats.org/drawingml/2006/main">
              <a:ext uri="{FF2B5EF4-FFF2-40B4-BE49-F238E27FC236}">
                <a16:creationId xmlns:a16="http://schemas.microsoft.com/office/drawing/2014/main" id="{94731F2D-C4A8-4683-A86B-A69963E8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95700"/>
            <a:ext cx="1752600" cy="971550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1" name="final-output-title">
            <a:extLst xmlns:a="http://schemas.openxmlformats.org/drawingml/2006/main">
              <a:ext uri="{FF2B5EF4-FFF2-40B4-BE49-F238E27FC236}">
                <a16:creationId xmlns:a16="http://schemas.microsoft.com/office/drawing/2014/main" id="{96A3F76C-9C8D-496A-BEC0-AA23D84F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8100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32238"/>
                </a:solidFill>
              </a:defRPr>
            </a:pPr>
            <a:r>
              <a:rPr sz="1275" b="1">
                <a:solidFill>
                  <a:srgbClr val="132238"/>
                </a:solidFill>
              </a:rPr>
              <a:t>User-facing output</a:t>
            </a:r>
          </a:p>
        </p:txBody>
      </p:sp>
      <p:sp>
        <p:nvSpPr>
          <p:cNvPr id="52" name="final-output-body">
            <a:extLst xmlns:a="http://schemas.openxmlformats.org/drawingml/2006/main">
              <a:ext uri="{FF2B5EF4-FFF2-40B4-BE49-F238E27FC236}">
                <a16:creationId xmlns:a16="http://schemas.microsoft.com/office/drawing/2014/main" id="{5916BC4F-A466-4276-B205-E83C6C0E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76700"/>
            <a:ext cx="1485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E6B7A"/>
                </a:solidFill>
              </a:defRPr>
            </a:pPr>
            <a:r>
              <a:rPr sz="900" b="0">
                <a:solidFill>
                  <a:srgbClr val="5E6B7A"/>
                </a:solidFill>
              </a:rPr>
              <a:t>SQL + summary + data</a:t>
            </a:r>
          </a:p>
          <a:p xmlns:a="http://schemas.openxmlformats.org/drawingml/2006/main">
            <a:pPr algn="ctr">
              <a:defRPr sz="900" b="0">
                <a:solidFill>
                  <a:srgbClr val="5E6B7A"/>
                </a:solidFill>
              </a:defRPr>
            </a:pPr>
            <a:r>
              <a:rPr sz="900" b="0">
                <a:solidFill>
                  <a:srgbClr val="5E6B7A"/>
                </a:solidFill>
              </a:rPr>
              <a:t>PNG chart + CSV</a:t>
            </a:r>
          </a:p>
        </p:txBody>
      </p:sp>
      <p:cxnSp>
        <p:nvCxnSpPr>
          <p:cNvPr id="117" name=""/>
          <p:cNvCxnSpPr>
            <a:stCxn xmlns:a="http://schemas.openxmlformats.org/drawingml/2006/main" id="13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362200" y="2609850"/>
            <a:ext cx="590550" cy="171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7B4"/>
            </a:solidFill>
            <a:prstDash val="solid"/>
            <a:tailEnd type="arrow" w="sm" len="sm"/>
          </a:ln>
        </p:spPr>
      </p:cxnSp>
      <p:cxnSp>
        <p:nvCxnSpPr>
          <p:cNvPr id="118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2362200" y="2781300"/>
            <a:ext cx="590550" cy="647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7B4"/>
            </a:solidFill>
            <a:prstDash val="solid"/>
            <a:tailEnd type="arrow" w="sm" len="sm"/>
          </a:ln>
        </p:spPr>
      </p:cxnSp>
      <p:cxnSp>
        <p:nvCxnSpPr>
          <p:cNvPr id="119" name=""/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 flipV="1">
            <a:off x="5638800" y="2390775"/>
            <a:ext cx="64770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F0E"/>
            </a:solidFill>
            <a:prstDash val="solid"/>
            <a:tailEnd type="arrow" w="sm" len="sm"/>
          </a:ln>
        </p:spPr>
      </p:cxnSp>
      <p:cxnSp>
        <p:nvCxnSpPr>
          <p:cNvPr id="120" name=""/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5638800" y="2781300"/>
            <a:ext cx="647700" cy="409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F0E"/>
            </a:solidFill>
            <a:prstDash val="solid"/>
            <a:tailEnd type="arrow" w="sm" len="sm"/>
          </a:ln>
        </p:spPr>
      </p:cxnSp>
      <p:cxnSp>
        <p:nvCxnSpPr>
          <p:cNvPr id="121" name=""/>
          <p:cNvCxnSpPr>
            <a:stCxn xmlns:a="http://schemas.openxmlformats.org/drawingml/2006/main" id="19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4295775" y="3219450"/>
            <a:ext cx="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7B4"/>
            </a:solidFill>
            <a:prstDash val="solid"/>
            <a:tailEnd type="arrow" w="sm" len="sm"/>
          </a:ln>
        </p:spPr>
      </p:cxnSp>
      <p:cxnSp>
        <p:nvCxnSpPr>
          <p:cNvPr id="122" name=""/>
          <p:cNvCxnSpPr>
            <a:stCxn xmlns:a="http://schemas.openxmlformats.org/drawingml/2006/main" id="32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5638800" y="4619625"/>
            <a:ext cx="9334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FF7F0E"/>
            </a:solidFill>
            <a:prstDash val="solid"/>
            <a:tailEnd type="arrow" w="sm" len="sm"/>
          </a:ln>
        </p:spPr>
      </p:cxnSp>
      <p:cxnSp>
        <p:nvCxnSpPr>
          <p:cNvPr id="123" name=""/>
          <p:cNvCxnSpPr>
            <a:stCxn xmlns:a="http://schemas.openxmlformats.org/drawingml/2006/main" id="35" idx="3"/>
            <a:endCxn xmlns:a="http://schemas.openxmlformats.org/drawingml/2006/main" id="50" idx="1"/>
          </p:cNvCxnSpPr>
          <p:nvPr/>
        </p:nvCxnSpPr>
        <p:spPr>
          <a:xfrm xmlns:a="http://schemas.openxmlformats.org/drawingml/2006/main" flipV="1">
            <a:off x="9258300" y="4181475"/>
            <a:ext cx="36195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7B4"/>
            </a:solidFill>
            <a:prstDash val="solid"/>
            <a:tailEnd type="arrow" w="sm" len="sm"/>
          </a:ln>
        </p:spPr>
      </p:cxnSp>
      <p:cxnSp>
        <p:nvCxnSpPr>
          <p:cNvPr id="124" name=""/>
          <p:cNvCxnSpPr>
            <a:stCxn xmlns:a="http://schemas.openxmlformats.org/drawingml/2006/main" id="38" idx="0"/>
            <a:endCxn xmlns:a="http://schemas.openxmlformats.org/drawingml/2006/main" id="32" idx="1"/>
          </p:cNvCxnSpPr>
          <p:nvPr/>
        </p:nvCxnSpPr>
        <p:spPr>
          <a:xfrm xmlns:a="http://schemas.openxmlformats.org/drawingml/2006/main" flipV="1">
            <a:off x="1647825" y="4619625"/>
            <a:ext cx="1304925" cy="981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2EC"/>
            </a:solidFill>
            <a:prstDash val="solid"/>
            <a:tailEnd type="arrow" w="sm" len="sm"/>
          </a:ln>
        </p:spPr>
      </p:cxnSp>
      <p:cxnSp>
        <p:nvCxnSpPr>
          <p:cNvPr id="125" name=""/>
          <p:cNvCxnSpPr>
            <a:stCxn xmlns:a="http://schemas.openxmlformats.org/drawingml/2006/main" id="32" idx="2"/>
            <a:endCxn xmlns:a="http://schemas.openxmlformats.org/drawingml/2006/main" id="44" idx="0"/>
          </p:cNvCxnSpPr>
          <p:nvPr/>
        </p:nvCxnSpPr>
        <p:spPr>
          <a:xfrm xmlns:a="http://schemas.openxmlformats.org/drawingml/2006/main">
            <a:off x="4295775" y="5029200"/>
            <a:ext cx="1590675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2EC"/>
            </a:solidFill>
            <a:prstDash val="solid"/>
            <a:tailEnd type="arrow" w="sm" len="sm"/>
          </a:ln>
        </p:spPr>
      </p:cxnSp>
      <p:cxnSp>
        <p:nvCxnSpPr>
          <p:cNvPr id="126" name=""/>
          <p:cNvCxnSpPr>
            <a:stCxn xmlns:a="http://schemas.openxmlformats.org/drawingml/2006/main" id="35" idx="2"/>
            <a:endCxn xmlns:a="http://schemas.openxmlformats.org/drawingml/2006/main" id="47" idx="0"/>
          </p:cNvCxnSpPr>
          <p:nvPr/>
        </p:nvCxnSpPr>
        <p:spPr>
          <a:xfrm xmlns:a="http://schemas.openxmlformats.org/drawingml/2006/main">
            <a:off x="7915275" y="5029200"/>
            <a:ext cx="13335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2EC"/>
            </a:solidFill>
            <a:prstDash val="solid"/>
            <a:tailEnd type="arrow" w="sm" len="sm"/>
          </a:ln>
        </p:spPr>
      </p:cxnSp>
      <p:sp>
        <p:nvSpPr>
          <p:cNvPr id="63" name="handoff-object">
            <a:extLst xmlns:a="http://schemas.openxmlformats.org/drawingml/2006/main">
              <a:ext uri="{FF2B5EF4-FFF2-40B4-BE49-F238E27FC236}">
                <a16:creationId xmlns:a16="http://schemas.microsoft.com/office/drawing/2014/main" id="{965CF7BC-F125-4521-A18E-AC9624E4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00550"/>
            <a:ext cx="8382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9525">
            <a:solidFill>
              <a:srgbClr val="FF7F0E"/>
            </a:solidFill>
            <a:prstDash val="solid"/>
          </a:ln>
        </p:spPr>
      </p:sp>
      <p:sp>
        <p:nvSpPr>
          <p:cNvPr id="64" name="handoff-label">
            <a:extLst xmlns:a="http://schemas.openxmlformats.org/drawingml/2006/main">
              <a:ext uri="{FF2B5EF4-FFF2-40B4-BE49-F238E27FC236}">
                <a16:creationId xmlns:a16="http://schemas.microsoft.com/office/drawing/2014/main" id="{EFCD8F03-28C0-413E-AAE7-D0FB1934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4386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7F0E"/>
                </a:solidFill>
              </a:defRPr>
            </a:pPr>
            <a:r>
              <a:rPr sz="825" b="1">
                <a:solidFill>
                  <a:srgbClr val="FF7F0E"/>
                </a:solidFill>
              </a:rPr>
              <a:t>Analysis</a:t>
            </a:r>
          </a:p>
          <a:p xmlns:a="http://schemas.openxmlformats.org/drawingml/2006/main">
            <a:pPr algn="ctr">
              <a:defRPr sz="825" b="1">
                <a:solidFill>
                  <a:srgbClr val="FF7F0E"/>
                </a:solidFill>
              </a:defRPr>
            </a:pPr>
            <a:r>
              <a:rPr sz="825" b="1">
                <a:solidFill>
                  <a:srgbClr val="FF7F0E"/>
                </a:solidFill>
              </a:rPr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727418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BB63BE88-BC3B-4378-BFC1-D644817C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AI TALENT LAB CASE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5389BD-32E3-47A0-B79F-59A9ECEF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32238"/>
                </a:solidFill>
              </a:defRPr>
            </a:pPr>
            <a:r>
              <a:rPr sz="2850" b="1">
                <a:solidFill>
                  <a:srgbClr val="132238"/>
                </a:solidFill>
              </a:rPr>
              <a:t>Design choices show production thinking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32B2176-83F1-49DA-981F-2AC7877E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71AEB2F8-65D0-412A-A261-7984B8A2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695"/>
                </a:solidFill>
              </a:defRPr>
            </a:pPr>
            <a:r>
              <a:rPr sz="900" b="0">
                <a:solidFill>
                  <a:srgbClr val="7A8695"/>
                </a:solidFill>
              </a:rPr>
              <a:t>Autonomous AI Agents Case  |  3/5</a:t>
            </a:r>
          </a:p>
        </p:txBody>
      </p:sp>
      <p:sp>
        <p:nvSpPr>
          <p:cNvPr id="5" name="accent-System design">
            <a:extLst xmlns:a="http://schemas.openxmlformats.org/drawingml/2006/main">
              <a:ext uri="{FF2B5EF4-FFF2-40B4-BE49-F238E27FC236}">
                <a16:creationId xmlns:a16="http://schemas.microsoft.com/office/drawing/2014/main" id="{617F587F-DA4B-4479-A6B5-6417BCE4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6" name="label-System design">
            <a:extLst xmlns:a="http://schemas.openxmlformats.org/drawingml/2006/main">
              <a:ext uri="{FF2B5EF4-FFF2-40B4-BE49-F238E27FC236}">
                <a16:creationId xmlns:a16="http://schemas.microsoft.com/office/drawing/2014/main" id="{B48165BB-E9BE-4065-9C1B-58140A65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764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System design</a:t>
            </a:r>
          </a:p>
        </p:txBody>
      </p:sp>
      <p:sp>
        <p:nvSpPr>
          <p:cNvPr id="7" name="left-body-0">
            <a:extLst xmlns:a="http://schemas.openxmlformats.org/drawingml/2006/main">
              <a:ext uri="{FF2B5EF4-FFF2-40B4-BE49-F238E27FC236}">
                <a16:creationId xmlns:a16="http://schemas.microsoft.com/office/drawing/2014/main" id="{E1F96A63-2A06-49DD-89EA-AE8CF61A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Separate agents with a shared orchestrator.</a:t>
            </a:r>
          </a:p>
        </p:txBody>
      </p:sp>
      <p:sp>
        <p:nvSpPr>
          <p:cNvPr id="8" name="accent-Safety mindset">
            <a:extLst xmlns:a="http://schemas.openxmlformats.org/drawingml/2006/main">
              <a:ext uri="{FF2B5EF4-FFF2-40B4-BE49-F238E27FC236}">
                <a16:creationId xmlns:a16="http://schemas.microsoft.com/office/drawing/2014/main" id="{8614D5F6-DCBA-4B3D-BFBA-C69B04CF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9" name="label-Safety mindset">
            <a:extLst xmlns:a="http://schemas.openxmlformats.org/drawingml/2006/main">
              <a:ext uri="{FF2B5EF4-FFF2-40B4-BE49-F238E27FC236}">
                <a16:creationId xmlns:a16="http://schemas.microsoft.com/office/drawing/2014/main" id="{4F96D0BD-295F-492E-ACEE-0E568FBE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Safety mindset</a:t>
            </a:r>
          </a:p>
        </p:txBody>
      </p:sp>
      <p:sp>
        <p:nvSpPr>
          <p:cNvPr id="10" name="left-body-1">
            <a:extLst xmlns:a="http://schemas.openxmlformats.org/drawingml/2006/main">
              <a:ext uri="{FF2B5EF4-FFF2-40B4-BE49-F238E27FC236}">
                <a16:creationId xmlns:a16="http://schemas.microsoft.com/office/drawing/2014/main" id="{F88BEF7E-863A-4138-98A8-52DFD8A9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SQL guard, row limit, read-only SQLite.</a:t>
            </a:r>
          </a:p>
        </p:txBody>
      </p:sp>
      <p:sp>
        <p:nvSpPr>
          <p:cNvPr id="11" name="accent-Easy integration">
            <a:extLst xmlns:a="http://schemas.openxmlformats.org/drawingml/2006/main">
              <a:ext uri="{FF2B5EF4-FFF2-40B4-BE49-F238E27FC236}">
                <a16:creationId xmlns:a16="http://schemas.microsoft.com/office/drawing/2014/main" id="{FCAD2110-807A-4997-AD00-23130322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F0E"/>
          </a:solidFill>
          <a:ln xmlns:a="http://schemas.openxmlformats.org/drawingml/2006/main" w="0">
            <a:solidFill>
              <a:srgbClr val="FF7F0E"/>
            </a:solidFill>
            <a:prstDash val="solid"/>
          </a:ln>
        </p:spPr>
      </p:sp>
      <p:sp>
        <p:nvSpPr>
          <p:cNvPr id="12" name="label-Easy integration">
            <a:extLst xmlns:a="http://schemas.openxmlformats.org/drawingml/2006/main">
              <a:ext uri="{FF2B5EF4-FFF2-40B4-BE49-F238E27FC236}">
                <a16:creationId xmlns:a16="http://schemas.microsoft.com/office/drawing/2014/main" id="{8197D948-4460-419F-BA46-1CABE141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Easy integration</a:t>
            </a:r>
          </a:p>
        </p:txBody>
      </p:sp>
      <p:sp>
        <p:nvSpPr>
          <p:cNvPr id="13" name="left-body-2">
            <a:extLst xmlns:a="http://schemas.openxmlformats.org/drawingml/2006/main">
              <a:ext uri="{FF2B5EF4-FFF2-40B4-BE49-F238E27FC236}">
                <a16:creationId xmlns:a16="http://schemas.microsoft.com/office/drawing/2014/main" id="{EA960B99-7FD1-4574-B463-3E950876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Add databases via admin UI, CLI, or YAML.</a:t>
            </a:r>
          </a:p>
        </p:txBody>
      </p:sp>
      <p:sp>
        <p:nvSpPr>
          <p:cNvPr id="14" name="accent-Product control">
            <a:extLst xmlns:a="http://schemas.openxmlformats.org/drawingml/2006/main">
              <a:ext uri="{FF2B5EF4-FFF2-40B4-BE49-F238E27FC236}">
                <a16:creationId xmlns:a16="http://schemas.microsoft.com/office/drawing/2014/main" id="{3D1459CD-8AA8-42AF-8186-A5E5F9C5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F0E"/>
          </a:solidFill>
          <a:ln xmlns:a="http://schemas.openxmlformats.org/drawingml/2006/main" w="0">
            <a:solidFill>
              <a:srgbClr val="FF7F0E"/>
            </a:solidFill>
            <a:prstDash val="solid"/>
          </a:ln>
        </p:spPr>
      </p:sp>
      <p:sp>
        <p:nvSpPr>
          <p:cNvPr id="15" name="label-Product control">
            <a:extLst xmlns:a="http://schemas.openxmlformats.org/drawingml/2006/main">
              <a:ext uri="{FF2B5EF4-FFF2-40B4-BE49-F238E27FC236}">
                <a16:creationId xmlns:a16="http://schemas.microsoft.com/office/drawing/2014/main" id="{371CF032-0225-4E7F-90D7-08779236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3622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Product control</a:t>
            </a:r>
          </a:p>
        </p:txBody>
      </p:sp>
      <p:sp>
        <p:nvSpPr>
          <p:cNvPr id="16" name="right-body-0">
            <a:extLst xmlns:a="http://schemas.openxmlformats.org/drawingml/2006/main">
              <a:ext uri="{FF2B5EF4-FFF2-40B4-BE49-F238E27FC236}">
                <a16:creationId xmlns:a16="http://schemas.microsoft.com/office/drawing/2014/main" id="{25BB3FF2-8845-4B71-8809-561361C8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Online/offline mode, chart type, row limit, preview size.</a:t>
            </a:r>
          </a:p>
        </p:txBody>
      </p:sp>
      <p:sp>
        <p:nvSpPr>
          <p:cNvPr id="17" name="accent-Evaluation disci">
            <a:extLst xmlns:a="http://schemas.openxmlformats.org/drawingml/2006/main">
              <a:ext uri="{FF2B5EF4-FFF2-40B4-BE49-F238E27FC236}">
                <a16:creationId xmlns:a16="http://schemas.microsoft.com/office/drawing/2014/main" id="{B4057BE2-3D5A-4648-A3D3-00613617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8" name="label-Evaluation disci">
            <a:extLst xmlns:a="http://schemas.openxmlformats.org/drawingml/2006/main">
              <a:ext uri="{FF2B5EF4-FFF2-40B4-BE49-F238E27FC236}">
                <a16:creationId xmlns:a16="http://schemas.microsoft.com/office/drawing/2014/main" id="{1DEEFA27-547A-4D29-8200-8ABD87A5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766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Evaluation discipline</a:t>
            </a:r>
          </a:p>
        </p:txBody>
      </p:sp>
      <p:sp>
        <p:nvSpPr>
          <p:cNvPr id="19" name="right-body-1">
            <a:extLst xmlns:a="http://schemas.openxmlformats.org/drawingml/2006/main">
              <a:ext uri="{FF2B5EF4-FFF2-40B4-BE49-F238E27FC236}">
                <a16:creationId xmlns:a16="http://schemas.microsoft.com/office/drawing/2014/main" id="{1E7E48E7-754F-404B-8D00-9B573F61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957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Automated tests cover safety, access, agents, and pipeline.</a:t>
            </a:r>
          </a:p>
        </p:txBody>
      </p:sp>
      <p:sp>
        <p:nvSpPr>
          <p:cNvPr id="20" name="mid-rule">
            <a:extLst xmlns:a="http://schemas.openxmlformats.org/drawingml/2006/main">
              <a:ext uri="{FF2B5EF4-FFF2-40B4-BE49-F238E27FC236}">
                <a16:creationId xmlns:a16="http://schemas.microsoft.com/office/drawing/2014/main" id="{8E74EFAD-FBDA-4BC8-BCF6-AD2B9A31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57400"/>
            <a:ext cx="0" cy="3219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66191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kicker">
            <a:extLst xmlns:a="http://schemas.openxmlformats.org/drawingml/2006/main">
              <a:ext uri="{FF2B5EF4-FFF2-40B4-BE49-F238E27FC236}">
                <a16:creationId xmlns:a16="http://schemas.microsoft.com/office/drawing/2014/main" id="{E0E80125-4656-4352-844D-C79559CE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AI TALENT LAB CASE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4474222-B9D5-4333-9DAE-2F3316BF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32238"/>
                </a:solidFill>
              </a:defRPr>
            </a:pPr>
            <a:r>
              <a:rPr sz="2850" b="1">
                <a:solidFill>
                  <a:srgbClr val="132238"/>
                </a:solidFill>
              </a:rPr>
              <a:t>The interface makes agent behavior visible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91497B2-C3BD-4D13-95D4-52725DFA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FC64F62B-9F65-4EF6-BF92-2CE3EB29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695"/>
                </a:solidFill>
              </a:defRPr>
            </a:pPr>
            <a:r>
              <a:rPr sz="900" b="0">
                <a:solidFill>
                  <a:srgbClr val="7A8695"/>
                </a:solidFill>
              </a:rPr>
              <a:t>Autonomous AI Agents Case  |  4/5</a:t>
            </a:r>
          </a:p>
        </p:txBody>
      </p:sp>
      <p:sp>
        <p:nvSpPr>
          <p:cNvPr id="5" name="interface-copy">
            <a:extLst xmlns:a="http://schemas.openxmlformats.org/drawingml/2006/main">
              <a:ext uri="{FF2B5EF4-FFF2-40B4-BE49-F238E27FC236}">
                <a16:creationId xmlns:a16="http://schemas.microsoft.com/office/drawing/2014/main" id="{33234F98-5D55-4D31-B908-B37A30C0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6215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6B7A"/>
                </a:solidFill>
              </a:defRPr>
            </a:pPr>
            <a:r>
              <a:rPr sz="1650" b="0">
                <a:solidFill>
                  <a:srgbClr val="5E6B7A"/>
                </a:solidFill>
              </a:rPr>
              <a:t>The UI turns a technical agent pipeline into a controlled user workflow.</a:t>
            </a:r>
          </a:p>
        </p:txBody>
      </p:sp>
      <p:sp>
        <p:nvSpPr>
          <p:cNvPr id="6" name="accent-Permission-aware">
            <a:extLst xmlns:a="http://schemas.openxmlformats.org/drawingml/2006/main">
              <a:ext uri="{FF2B5EF4-FFF2-40B4-BE49-F238E27FC236}">
                <a16:creationId xmlns:a16="http://schemas.microsoft.com/office/drawing/2014/main" id="{40026136-85F4-4D11-A43A-C0BE7B89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7" name="label-Permission-aware">
            <a:extLst xmlns:a="http://schemas.openxmlformats.org/drawingml/2006/main">
              <a:ext uri="{FF2B5EF4-FFF2-40B4-BE49-F238E27FC236}">
                <a16:creationId xmlns:a16="http://schemas.microsoft.com/office/drawing/2014/main" id="{56EC452C-620D-49A7-9EA3-7D47C262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Permission-aware</a:t>
            </a:r>
          </a:p>
        </p:txBody>
      </p:sp>
      <p:sp>
        <p:nvSpPr>
          <p:cNvPr id="8" name="experience-body-0">
            <a:extLst xmlns:a="http://schemas.openxmlformats.org/drawingml/2006/main">
              <a:ext uri="{FF2B5EF4-FFF2-40B4-BE49-F238E27FC236}">
                <a16:creationId xmlns:a16="http://schemas.microsoft.com/office/drawing/2014/main" id="{0D57F4BF-109C-4EE9-99C0-8B24FB9F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718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B7A"/>
                </a:solidFill>
              </a:defRPr>
            </a:pPr>
            <a:r>
              <a:rPr sz="1275" b="0">
                <a:solidFill>
                  <a:srgbClr val="5E6B7A"/>
                </a:solidFill>
              </a:rPr>
              <a:t>Users only see authorized databases.</a:t>
            </a:r>
          </a:p>
        </p:txBody>
      </p:sp>
      <p:sp>
        <p:nvSpPr>
          <p:cNvPr id="9" name="accent-Controllable">
            <a:extLst xmlns:a="http://schemas.openxmlformats.org/drawingml/2006/main">
              <a:ext uri="{FF2B5EF4-FFF2-40B4-BE49-F238E27FC236}">
                <a16:creationId xmlns:a16="http://schemas.microsoft.com/office/drawing/2014/main" id="{6E2928E0-F524-452C-8567-C976AD76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F0E"/>
          </a:solidFill>
          <a:ln xmlns:a="http://schemas.openxmlformats.org/drawingml/2006/main" w="0">
            <a:solidFill>
              <a:srgbClr val="FF7F0E"/>
            </a:solidFill>
            <a:prstDash val="solid"/>
          </a:ln>
        </p:spPr>
      </p:sp>
      <p:sp>
        <p:nvSpPr>
          <p:cNvPr id="10" name="label-Controllable">
            <a:extLst xmlns:a="http://schemas.openxmlformats.org/drawingml/2006/main">
              <a:ext uri="{FF2B5EF4-FFF2-40B4-BE49-F238E27FC236}">
                <a16:creationId xmlns:a16="http://schemas.microsoft.com/office/drawing/2014/main" id="{C0AC0AFE-156A-4AD0-A3B6-5E67C23A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195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Controllable</a:t>
            </a:r>
          </a:p>
        </p:txBody>
      </p:sp>
      <p:sp>
        <p:nvSpPr>
          <p:cNvPr id="11" name="experience-body-1">
            <a:extLst xmlns:a="http://schemas.openxmlformats.org/drawingml/2006/main">
              <a:ext uri="{FF2B5EF4-FFF2-40B4-BE49-F238E27FC236}">
                <a16:creationId xmlns:a16="http://schemas.microsoft.com/office/drawing/2014/main" id="{76D25259-ACD9-4003-9714-850ACD10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B7A"/>
                </a:solidFill>
              </a:defRPr>
            </a:pPr>
            <a:r>
              <a:rPr sz="1275" b="0">
                <a:solidFill>
                  <a:srgbClr val="5E6B7A"/>
                </a:solidFill>
              </a:rPr>
              <a:t>Mode, chart, row limit, and preview size are explicit.</a:t>
            </a:r>
          </a:p>
        </p:txBody>
      </p:sp>
      <p:sp>
        <p:nvSpPr>
          <p:cNvPr id="12" name="accent-Transparent">
            <a:extLst xmlns:a="http://schemas.openxmlformats.org/drawingml/2006/main">
              <a:ext uri="{FF2B5EF4-FFF2-40B4-BE49-F238E27FC236}">
                <a16:creationId xmlns:a16="http://schemas.microsoft.com/office/drawing/2014/main" id="{CDE9809C-5791-4DC5-8ACD-7DFE8998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3" name="label-Transparent">
            <a:extLst xmlns:a="http://schemas.openxmlformats.org/drawingml/2006/main">
              <a:ext uri="{FF2B5EF4-FFF2-40B4-BE49-F238E27FC236}">
                <a16:creationId xmlns:a16="http://schemas.microsoft.com/office/drawing/2014/main" id="{8CEFAB88-0C89-4859-A052-F2B4795A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Transparent</a:t>
            </a:r>
          </a:p>
        </p:txBody>
      </p:sp>
      <p:sp>
        <p:nvSpPr>
          <p:cNvPr id="14" name="experience-body-2">
            <a:extLst xmlns:a="http://schemas.openxmlformats.org/drawingml/2006/main">
              <a:ext uri="{FF2B5EF4-FFF2-40B4-BE49-F238E27FC236}">
                <a16:creationId xmlns:a16="http://schemas.microsoft.com/office/drawing/2014/main" id="{1D9DB0FD-C61F-4E2F-BCFC-B25D50EF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291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B7A"/>
                </a:solidFill>
              </a:defRPr>
            </a:pPr>
            <a:r>
              <a:rPr sz="1275" b="0">
                <a:solidFill>
                  <a:srgbClr val="5E6B7A"/>
                </a:solidFill>
              </a:rPr>
              <a:t>Status, SQL, summary, data, chart, and files are shown.</a:t>
            </a:r>
          </a:p>
        </p:txBody>
      </p:sp>
      <p:sp>
        <p:nvSpPr>
          <p:cNvPr id="15" name="accent-Admin-ready">
            <a:extLst xmlns:a="http://schemas.openxmlformats.org/drawingml/2006/main">
              <a:ext uri="{FF2B5EF4-FFF2-40B4-BE49-F238E27FC236}">
                <a16:creationId xmlns:a16="http://schemas.microsoft.com/office/drawing/2014/main" id="{1D5E00ED-790E-47B3-B5E2-5C9C2CA5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149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6" name="label-Admin-ready">
            <a:extLst xmlns:a="http://schemas.openxmlformats.org/drawingml/2006/main">
              <a:ext uri="{FF2B5EF4-FFF2-40B4-BE49-F238E27FC236}">
                <a16:creationId xmlns:a16="http://schemas.microsoft.com/office/drawing/2014/main" id="{59D23EC9-CE17-425A-A5E4-C1CAE59F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Admin-ready</a:t>
            </a:r>
          </a:p>
        </p:txBody>
      </p:sp>
      <p:sp>
        <p:nvSpPr>
          <p:cNvPr id="17" name="experience-body-3">
            <a:extLst xmlns:a="http://schemas.openxmlformats.org/drawingml/2006/main">
              <a:ext uri="{FF2B5EF4-FFF2-40B4-BE49-F238E27FC236}">
                <a16:creationId xmlns:a16="http://schemas.microsoft.com/office/drawing/2014/main" id="{0C98F368-7C90-418E-A25B-677ED8FB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578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B7A"/>
                </a:solidFill>
              </a:defRPr>
            </a:pPr>
            <a:r>
              <a:rPr sz="1275" b="0">
                <a:solidFill>
                  <a:srgbClr val="5E6B7A"/>
                </a:solidFill>
              </a:rPr>
              <a:t>Add users and SQLite databases in the sidebar.</a:t>
            </a:r>
          </a:p>
        </p:txBody>
      </p:sp>
      <p:sp>
        <p:nvSpPr>
          <p:cNvPr id="18" name="ui-screenshot-placeholder">
            <a:extLst xmlns:a="http://schemas.openxmlformats.org/drawingml/2006/main">
              <a:ext uri="{FF2B5EF4-FFF2-40B4-BE49-F238E27FC236}">
                <a16:creationId xmlns:a16="http://schemas.microsoft.com/office/drawing/2014/main" id="{4738998C-5FBD-4417-BA7D-6B359C8E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19300"/>
            <a:ext cx="4857750" cy="3028950"/>
          </a:xfrm>
          <a:prstGeom xmlns:a="http://schemas.openxmlformats.org/drawingml/2006/main" prst="roundRect">
            <a:avLst>
              <a:gd name="adj" fmla="val 4403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ui-screenshot-placeholder-title">
            <a:extLst xmlns:a="http://schemas.openxmlformats.org/drawingml/2006/main">
              <a:ext uri="{FF2B5EF4-FFF2-40B4-BE49-F238E27FC236}">
                <a16:creationId xmlns:a16="http://schemas.microsoft.com/office/drawing/2014/main" id="{0E3C8E9D-4DDC-4C27-BB13-D18176F3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43150"/>
            <a:ext cx="432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2238"/>
                </a:solidFill>
              </a:defRPr>
            </a:pPr>
            <a:r>
              <a:rPr sz="1650" b="1">
                <a:solidFill>
                  <a:srgbClr val="132238"/>
                </a:solidFill>
              </a:rPr>
              <a:t>Screenshot placeholder</a:t>
            </a:r>
          </a:p>
        </p:txBody>
      </p:sp>
      <p:sp>
        <p:nvSpPr>
          <p:cNvPr id="20" name="ui-screenshot-placeholder-subtitle">
            <a:extLst xmlns:a="http://schemas.openxmlformats.org/drawingml/2006/main">
              <a:ext uri="{FF2B5EF4-FFF2-40B4-BE49-F238E27FC236}">
                <a16:creationId xmlns:a16="http://schemas.microsoft.com/office/drawing/2014/main" id="{2FADE6A5-6896-4C9E-8035-2C2798F5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38525"/>
            <a:ext cx="4057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E6B7A"/>
                </a:solidFill>
              </a:defRPr>
            </a:pPr>
            <a:r>
              <a:rPr sz="1350" b="0">
                <a:solidFill>
                  <a:srgbClr val="5E6B7A"/>
                </a:solidFill>
              </a:rPr>
              <a:t>Add Streamlit result page here</a:t>
            </a:r>
          </a:p>
        </p:txBody>
      </p:sp>
      <p:sp>
        <p:nvSpPr>
          <p:cNvPr id="21" name="cli-note">
            <a:extLst xmlns:a="http://schemas.openxmlformats.org/drawingml/2006/main">
              <a:ext uri="{FF2B5EF4-FFF2-40B4-BE49-F238E27FC236}">
                <a16:creationId xmlns:a16="http://schemas.microsoft.com/office/drawing/2014/main" id="{AEFE7F61-93F6-425D-8A73-9F1E4F87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32238"/>
                </a:solidFill>
              </a:defRPr>
            </a:pPr>
            <a:r>
              <a:rPr sz="1500" b="1">
                <a:solidFill>
                  <a:srgbClr val="132238"/>
                </a:solidFill>
              </a:rPr>
              <a:t>CLI mirrors the same core controls for reproducible runs.</a:t>
            </a:r>
          </a:p>
        </p:txBody>
      </p:sp>
    </p:spTree>
    <p:extLst>
      <p:ext uri="{BB962C8B-B14F-4D97-AF65-F5344CB8AC3E}">
        <p14:creationId xmlns:p14="http://schemas.microsoft.com/office/powerpoint/2010/main" val="647275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">
            <a:extLst xmlns:a="http://schemas.openxmlformats.org/drawingml/2006/main">
              <a:ext uri="{FF2B5EF4-FFF2-40B4-BE49-F238E27FC236}">
                <a16:creationId xmlns:a16="http://schemas.microsoft.com/office/drawing/2014/main" id="{46C7E236-16BD-4314-B9DF-605D6F71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AI TALENT LAB CASE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B89424-BFC3-4B1F-BFF1-DEA0F431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32238"/>
                </a:solidFill>
              </a:defRPr>
            </a:pPr>
            <a:r>
              <a:rPr sz="2850" b="1">
                <a:solidFill>
                  <a:srgbClr val="132238"/>
                </a:solidFill>
              </a:rPr>
              <a:t>Evaluation proves the MVP and guides next steps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D77D10E-48A7-415B-BA45-53466B05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ACBD6796-F9F0-47F8-B7A5-F5F7B6D0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695"/>
                </a:solidFill>
              </a:defRPr>
            </a:pPr>
            <a:r>
              <a:rPr sz="900" b="0">
                <a:solidFill>
                  <a:srgbClr val="7A8695"/>
                </a:solidFill>
              </a:rPr>
              <a:t>Autonomous AI Agents Case  |  5/5</a:t>
            </a:r>
          </a:p>
        </p:txBody>
      </p:sp>
      <p:sp>
        <p:nvSpPr>
          <p:cNvPr id="5" name="tests-number">
            <a:extLst xmlns:a="http://schemas.openxmlformats.org/drawingml/2006/main">
              <a:ext uri="{FF2B5EF4-FFF2-40B4-BE49-F238E27FC236}">
                <a16:creationId xmlns:a16="http://schemas.microsoft.com/office/drawing/2014/main" id="{0509A4D8-11B5-41FD-9B22-2306B41B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1F77B4"/>
                </a:solidFill>
              </a:defRPr>
            </a:pPr>
            <a:r>
              <a:rPr sz="5700" b="1">
                <a:solidFill>
                  <a:srgbClr val="1F77B4"/>
                </a:solidFill>
              </a:rPr>
              <a:t>20/20</a:t>
            </a:r>
          </a:p>
        </p:txBody>
      </p:sp>
      <p:sp>
        <p:nvSpPr>
          <p:cNvPr id="6" name="tests-label">
            <a:extLst xmlns:a="http://schemas.openxmlformats.org/drawingml/2006/main">
              <a:ext uri="{FF2B5EF4-FFF2-40B4-BE49-F238E27FC236}">
                <a16:creationId xmlns:a16="http://schemas.microsoft.com/office/drawing/2014/main" id="{3345D74B-B422-4BB7-94A4-0270E99B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2238"/>
                </a:solidFill>
              </a:defRPr>
            </a:pPr>
            <a:r>
              <a:rPr sz="1650" b="1">
                <a:solidFill>
                  <a:srgbClr val="132238"/>
                </a:solidFill>
              </a:rPr>
              <a:t>automated tests passing</a:t>
            </a:r>
          </a:p>
        </p:txBody>
      </p:sp>
      <p:sp>
        <p:nvSpPr>
          <p:cNvPr id="7" name="metric-pass-rate">
            <a:extLst xmlns:a="http://schemas.openxmlformats.org/drawingml/2006/main">
              <a:ext uri="{FF2B5EF4-FFF2-40B4-BE49-F238E27FC236}">
                <a16:creationId xmlns:a16="http://schemas.microsoft.com/office/drawing/2014/main" id="{3D073007-05FA-4580-8DBA-D0E5A5B9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17907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8" name="metric-pass-rate-value">
            <a:extLst xmlns:a="http://schemas.openxmlformats.org/drawingml/2006/main">
              <a:ext uri="{FF2B5EF4-FFF2-40B4-BE49-F238E27FC236}">
                <a16:creationId xmlns:a16="http://schemas.microsoft.com/office/drawing/2014/main" id="{66137418-FF1A-4F7C-97A5-DC3387CF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6715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7F0E"/>
                </a:solidFill>
              </a:defRPr>
            </a:pPr>
            <a:r>
              <a:rPr sz="1950" b="1">
                <a:solidFill>
                  <a:srgbClr val="FF7F0E"/>
                </a:solidFill>
              </a:rPr>
              <a:t>100%</a:t>
            </a:r>
          </a:p>
        </p:txBody>
      </p:sp>
      <p:sp>
        <p:nvSpPr>
          <p:cNvPr id="9" name="metric-pass-rate-label">
            <a:extLst xmlns:a="http://schemas.openxmlformats.org/drawingml/2006/main">
              <a:ext uri="{FF2B5EF4-FFF2-40B4-BE49-F238E27FC236}">
                <a16:creationId xmlns:a16="http://schemas.microsoft.com/office/drawing/2014/main" id="{2524820A-21D4-4988-BA53-8FB02412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local pass rate</a:t>
            </a:r>
          </a:p>
        </p:txBody>
      </p:sp>
      <p:sp>
        <p:nvSpPr>
          <p:cNvPr id="10" name="metric-risk">
            <a:extLst xmlns:a="http://schemas.openxmlformats.org/drawingml/2006/main">
              <a:ext uri="{FF2B5EF4-FFF2-40B4-BE49-F238E27FC236}">
                <a16:creationId xmlns:a16="http://schemas.microsoft.com/office/drawing/2014/main" id="{0AF3B6B7-5C9F-404C-8933-F56D031D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17907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metric-risk-value">
            <a:extLst xmlns:a="http://schemas.openxmlformats.org/drawingml/2006/main">
              <a:ext uri="{FF2B5EF4-FFF2-40B4-BE49-F238E27FC236}">
                <a16:creationId xmlns:a16="http://schemas.microsoft.com/office/drawing/2014/main" id="{2F4CACEB-ABBD-4A43-8147-34F88116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625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7F0E"/>
                </a:solidFill>
              </a:defRPr>
            </a:pPr>
            <a:r>
              <a:rPr sz="1950" b="1">
                <a:solidFill>
                  <a:srgbClr val="FF7F0E"/>
                </a:solidFill>
              </a:rPr>
              <a:t>6</a:t>
            </a:r>
          </a:p>
        </p:txBody>
      </p:sp>
      <p:sp>
        <p:nvSpPr>
          <p:cNvPr id="12" name="metric-risk-label">
            <a:extLst xmlns:a="http://schemas.openxmlformats.org/drawingml/2006/main">
              <a:ext uri="{FF2B5EF4-FFF2-40B4-BE49-F238E27FC236}">
                <a16:creationId xmlns:a16="http://schemas.microsoft.com/office/drawing/2014/main" id="{E0359E40-211B-4035-B419-3675496C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risk areas covered</a:t>
            </a:r>
          </a:p>
        </p:txBody>
      </p:sp>
      <p:sp>
        <p:nvSpPr>
          <p:cNvPr id="13" name="accent-What I tested">
            <a:extLst xmlns:a="http://schemas.openxmlformats.org/drawingml/2006/main">
              <a:ext uri="{FF2B5EF4-FFF2-40B4-BE49-F238E27FC236}">
                <a16:creationId xmlns:a16="http://schemas.microsoft.com/office/drawing/2014/main" id="{FA96CAB4-A819-46A6-95C9-FA93C073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336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4" name="label-What I tested">
            <a:extLst xmlns:a="http://schemas.openxmlformats.org/drawingml/2006/main">
              <a:ext uri="{FF2B5EF4-FFF2-40B4-BE49-F238E27FC236}">
                <a16:creationId xmlns:a16="http://schemas.microsoft.com/office/drawing/2014/main" id="{AB87CEC1-D3A6-4540-91F1-36E4B0D6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955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What I tested</a:t>
            </a:r>
          </a:p>
        </p:txBody>
      </p:sp>
      <p:sp>
        <p:nvSpPr>
          <p:cNvPr id="15" name="test-dot-0">
            <a:extLst xmlns:a="http://schemas.openxmlformats.org/drawingml/2006/main">
              <a:ext uri="{FF2B5EF4-FFF2-40B4-BE49-F238E27FC236}">
                <a16:creationId xmlns:a16="http://schemas.microsoft.com/office/drawing/2014/main" id="{DF3398C1-A1B2-4424-8F06-8A0F622F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24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sted-0">
            <a:extLst xmlns:a="http://schemas.openxmlformats.org/drawingml/2006/main">
              <a:ext uri="{FF2B5EF4-FFF2-40B4-BE49-F238E27FC236}">
                <a16:creationId xmlns:a16="http://schemas.microsoft.com/office/drawing/2014/main" id="{450EF822-57E1-4316-9011-6AB57A3D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2890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User access: allowed, blocked, created, updated, unchanged</a:t>
            </a:r>
          </a:p>
        </p:txBody>
      </p:sp>
      <p:sp>
        <p:nvSpPr>
          <p:cNvPr id="17" name="test-dot-1">
            <a:extLst xmlns:a="http://schemas.openxmlformats.org/drawingml/2006/main">
              <a:ext uri="{FF2B5EF4-FFF2-40B4-BE49-F238E27FC236}">
                <a16:creationId xmlns:a16="http://schemas.microsoft.com/office/drawing/2014/main" id="{C4225290-F3B8-4F23-8087-CECACBAA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05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sted-1">
            <a:extLst xmlns:a="http://schemas.openxmlformats.org/drawingml/2006/main">
              <a:ext uri="{FF2B5EF4-FFF2-40B4-BE49-F238E27FC236}">
                <a16:creationId xmlns:a16="http://schemas.microsoft.com/office/drawing/2014/main" id="{7C2D4735-2BD5-4D24-A482-EF4AB145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0990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Easy integration: add DB config, validate SQLite, grant access</a:t>
            </a:r>
          </a:p>
        </p:txBody>
      </p:sp>
      <p:sp>
        <p:nvSpPr>
          <p:cNvPr id="19" name="test-dot-2">
            <a:extLst xmlns:a="http://schemas.openxmlformats.org/drawingml/2006/main">
              <a:ext uri="{FF2B5EF4-FFF2-40B4-BE49-F238E27FC236}">
                <a16:creationId xmlns:a16="http://schemas.microsoft.com/office/drawing/2014/main" id="{43C1EC1B-9938-4C4E-98CF-B8E3965E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sted-2">
            <a:extLst xmlns:a="http://schemas.openxmlformats.org/drawingml/2006/main">
              <a:ext uri="{FF2B5EF4-FFF2-40B4-BE49-F238E27FC236}">
                <a16:creationId xmlns:a16="http://schemas.microsoft.com/office/drawing/2014/main" id="{1D027AF4-3352-4144-80EC-111E67A3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9090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Database layer: registry lookup, schema reading, read-only query</a:t>
            </a:r>
          </a:p>
        </p:txBody>
      </p:sp>
      <p:sp>
        <p:nvSpPr>
          <p:cNvPr id="21" name="test-dot-3">
            <a:extLst xmlns:a="http://schemas.openxmlformats.org/drawingml/2006/main">
              <a:ext uri="{FF2B5EF4-FFF2-40B4-BE49-F238E27FC236}">
                <a16:creationId xmlns:a16="http://schemas.microsoft.com/office/drawing/2014/main" id="{F07E8A34-51A6-4910-81B2-F48DE43A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67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F0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sted-3">
            <a:extLst xmlns:a="http://schemas.openxmlformats.org/drawingml/2006/main">
              <a:ext uri="{FF2B5EF4-FFF2-40B4-BE49-F238E27FC236}">
                <a16:creationId xmlns:a16="http://schemas.microsoft.com/office/drawing/2014/main" id="{3EE8E1CD-A480-4935-82ED-CA86467A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77190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SQL safety: mutation SQL blocked, LIMIT enforced</a:t>
            </a:r>
          </a:p>
        </p:txBody>
      </p:sp>
      <p:sp>
        <p:nvSpPr>
          <p:cNvPr id="23" name="test-dot-4">
            <a:extLst xmlns:a="http://schemas.openxmlformats.org/drawingml/2006/main">
              <a:ext uri="{FF2B5EF4-FFF2-40B4-BE49-F238E27FC236}">
                <a16:creationId xmlns:a16="http://schemas.microsoft.com/office/drawing/2014/main" id="{9E3292FF-7B6F-40F3-A33E-887E525F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4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sted-4">
            <a:extLst xmlns:a="http://schemas.openxmlformats.org/drawingml/2006/main">
              <a:ext uri="{FF2B5EF4-FFF2-40B4-BE49-F238E27FC236}">
                <a16:creationId xmlns:a16="http://schemas.microsoft.com/office/drawing/2014/main" id="{CC2AAAD2-EFF6-4275-8DEE-56B2A220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5290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Analysis agent: row limits, irrelevant questions, exact offline samples</a:t>
            </a:r>
          </a:p>
        </p:txBody>
      </p:sp>
      <p:sp>
        <p:nvSpPr>
          <p:cNvPr id="25" name="test-dot-5">
            <a:extLst xmlns:a="http://schemas.openxmlformats.org/drawingml/2006/main">
              <a:ext uri="{FF2B5EF4-FFF2-40B4-BE49-F238E27FC236}">
                <a16:creationId xmlns:a16="http://schemas.microsoft.com/office/drawing/2014/main" id="{94E1541A-6277-4D83-BB4B-17AB4AC9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629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sted-5">
            <a:extLst xmlns:a="http://schemas.openxmlformats.org/drawingml/2006/main">
              <a:ext uri="{FF2B5EF4-FFF2-40B4-BE49-F238E27FC236}">
                <a16:creationId xmlns:a16="http://schemas.microsoft.com/office/drawing/2014/main" id="{092935CC-FC4A-432B-96B8-5E9DA6F7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3390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Visualization + pipeline: chart/CSV output and two-agent handoff</a:t>
            </a:r>
          </a:p>
        </p:txBody>
      </p:sp>
      <p:sp>
        <p:nvSpPr>
          <p:cNvPr id="27" name="accent-Quality checks">
            <a:extLst xmlns:a="http://schemas.openxmlformats.org/drawingml/2006/main">
              <a:ext uri="{FF2B5EF4-FFF2-40B4-BE49-F238E27FC236}">
                <a16:creationId xmlns:a16="http://schemas.microsoft.com/office/drawing/2014/main" id="{5D172181-3C8E-479E-89E1-659887AE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578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F0E"/>
          </a:solidFill>
          <a:ln xmlns:a="http://schemas.openxmlformats.org/drawingml/2006/main" w="0">
            <a:solidFill>
              <a:srgbClr val="FF7F0E"/>
            </a:solidFill>
            <a:prstDash val="solid"/>
          </a:ln>
        </p:spPr>
      </p:sp>
      <p:sp>
        <p:nvSpPr>
          <p:cNvPr id="28" name="label-Quality checks">
            <a:extLst xmlns:a="http://schemas.openxmlformats.org/drawingml/2006/main">
              <a:ext uri="{FF2B5EF4-FFF2-40B4-BE49-F238E27FC236}">
                <a16:creationId xmlns:a16="http://schemas.microsoft.com/office/drawing/2014/main" id="{A8E64DEA-BB2A-4005-9186-E36C5033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197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Quality checks</a:t>
            </a:r>
          </a:p>
        </p:txBody>
      </p:sp>
      <p:sp>
        <p:nvSpPr>
          <p:cNvPr id="29" name="quality-checks">
            <a:extLst xmlns:a="http://schemas.openxmlformats.org/drawingml/2006/main">
              <a:ext uri="{FF2B5EF4-FFF2-40B4-BE49-F238E27FC236}">
                <a16:creationId xmlns:a16="http://schemas.microsoft.com/office/drawing/2014/main" id="{A5CE4614-682A-4258-9FB8-AD728998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638800"/>
            <a:ext cx="3733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Correct outputs: expected rows, columns, files</a:t>
            </a:r>
          </a:p>
          <a:p xmlns:a="http://schemas.openxmlformats.org/drawingml/2006/main"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Controlled risk: blocked unsafe SQL and denied access</a:t>
            </a:r>
          </a:p>
          <a:p xmlns:a="http://schemas.openxmlformats.org/drawingml/2006/main"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Integration path: new DB + user tested end to end</a:t>
            </a:r>
          </a:p>
        </p:txBody>
      </p:sp>
      <p:sp>
        <p:nvSpPr>
          <p:cNvPr id="30" name="accent-Production next ">
            <a:extLst xmlns:a="http://schemas.openxmlformats.org/drawingml/2006/main">
              <a:ext uri="{FF2B5EF4-FFF2-40B4-BE49-F238E27FC236}">
                <a16:creationId xmlns:a16="http://schemas.microsoft.com/office/drawing/2014/main" id="{871D5316-1875-4782-AA39-2F199B05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578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31" name="label-Production next ">
            <a:extLst xmlns:a="http://schemas.openxmlformats.org/drawingml/2006/main">
              <a:ext uri="{FF2B5EF4-FFF2-40B4-BE49-F238E27FC236}">
                <a16:creationId xmlns:a16="http://schemas.microsoft.com/office/drawing/2014/main" id="{4392434E-E2BE-46A2-9E21-400D2DA9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2197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Production next steps</a:t>
            </a:r>
          </a:p>
        </p:txBody>
      </p:sp>
      <p:sp>
        <p:nvSpPr>
          <p:cNvPr id="32" name="production-next-steps">
            <a:extLst xmlns:a="http://schemas.openxmlformats.org/drawingml/2006/main">
              <a:ext uri="{FF2B5EF4-FFF2-40B4-BE49-F238E27FC236}">
                <a16:creationId xmlns:a16="http://schemas.microsoft.com/office/drawing/2014/main" id="{1DE2251B-D18D-4AFB-9538-C6F2C462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638800"/>
            <a:ext cx="3619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Golden SQL/result benchmark</a:t>
            </a:r>
          </a:p>
          <a:p xmlns:a="http://schemas.openxmlformats.org/drawingml/2006/main"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Real auth, audit logs, observability</a:t>
            </a:r>
          </a:p>
          <a:p xmlns:a="http://schemas.openxmlformats.org/drawingml/2006/main"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Latency, cost, and error monitoring</a:t>
            </a:r>
          </a:p>
          <a:p xmlns:a="http://schemas.openxmlformats.org/drawingml/2006/main"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Managed deployment and database access</a:t>
            </a:r>
          </a:p>
        </p:txBody>
      </p:sp>
    </p:spTree>
    <p:extLst>
      <p:ext uri="{BB962C8B-B14F-4D97-AF65-F5344CB8AC3E}">
        <p14:creationId xmlns:p14="http://schemas.microsoft.com/office/powerpoint/2010/main" val="19433382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2026-08-17T15:44:32.8210000Z</dcterms:created>
  <dcterms:modified xsi:type="dcterms:W3CDTF">2026-08-17T15:44:32.8220000Z</dcterms:modified>
</coreProperties>
</file>