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310" autoAdjust="0"/>
  </p:normalViewPr>
  <p:slideViewPr>
    <p:cSldViewPr snapToGrid="0">
      <p:cViewPr varScale="1">
        <p:scale>
          <a:sx n="99" d="100"/>
          <a:sy n="99" d="100"/>
        </p:scale>
        <p:origin x="2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eft-band">
            <a:extLst>
              <a:ext uri="{FF2B5EF4-FFF2-40B4-BE49-F238E27FC236}">
                <a16:creationId xmlns:a16="http://schemas.microsoft.com/office/drawing/2014/main" id="{0D737161-7243-42FE-8B95-6B77A1EC56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2" name="case-label">
            <a:extLst>
              <a:ext uri="{FF2B5EF4-FFF2-40B4-BE49-F238E27FC236}">
                <a16:creationId xmlns:a16="http://schemas.microsoft.com/office/drawing/2014/main" id="{4B4C270C-2278-485B-AE66-A80013696A16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8EC5F4"/>
                </a:solidFill>
              </a:defRPr>
            </a:pPr>
            <a:r>
              <a:rPr sz="975" b="1">
                <a:solidFill>
                  <a:srgbClr val="8EC5F4"/>
                </a:solidFill>
              </a:rPr>
              <a:t>AI TALENT LAB CASE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5EA277A-862F-44C1-A044-80D991D6972F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2952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Two-agent</a:t>
            </a:r>
          </a:p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analytics system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535DFD2-1BA6-4F5E-B05C-D34FC0990EB7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D7E6F5"/>
                </a:solidFill>
              </a:defRPr>
            </a:pPr>
            <a:r>
              <a:rPr sz="1650" b="0">
                <a:solidFill>
                  <a:srgbClr val="D7E6F5"/>
                </a:solidFill>
              </a:rPr>
              <a:t>Safe SQL analysis, styled visualization, user restrictions, and automated tests.</a:t>
            </a:r>
          </a:p>
        </p:txBody>
      </p:sp>
      <p:sp>
        <p:nvSpPr>
          <p:cNvPr id="5" name="built-line">
            <a:extLst>
              <a:ext uri="{FF2B5EF4-FFF2-40B4-BE49-F238E27FC236}">
                <a16:creationId xmlns:a16="http://schemas.microsoft.com/office/drawing/2014/main" id="{E7696276-BD89-4FE0-9AEF-2C7A6C1BA977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B8CDE1"/>
                </a:solidFill>
              </a:defRPr>
            </a:pPr>
            <a:r>
              <a:rPr sz="1350" b="0">
                <a:solidFill>
                  <a:srgbClr val="B8CDE1"/>
                </a:solidFill>
              </a:rPr>
              <a:t>Built as a working, testable MVP for the assigned case.</a:t>
            </a:r>
          </a:p>
        </p:txBody>
      </p:sp>
      <p:sp>
        <p:nvSpPr>
          <p:cNvPr id="6" name="right-kicker">
            <a:extLst>
              <a:ext uri="{FF2B5EF4-FFF2-40B4-BE49-F238E27FC236}">
                <a16:creationId xmlns:a16="http://schemas.microsoft.com/office/drawing/2014/main" id="{546A59EC-3BB0-4C6A-B8D1-195BF6B71A9D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1F77B4"/>
                </a:solidFill>
              </a:defRPr>
            </a:pPr>
            <a:r>
              <a:rPr sz="1400" b="1">
                <a:solidFill>
                  <a:srgbClr val="1F77B4"/>
                </a:solidFill>
              </a:rPr>
              <a:t>WHAT I BUILT</a:t>
            </a:r>
          </a:p>
        </p:txBody>
      </p:sp>
      <p:sp>
        <p:nvSpPr>
          <p:cNvPr id="7" name="s1-bullet-0">
            <a:extLst>
              <a:ext uri="{FF2B5EF4-FFF2-40B4-BE49-F238E27FC236}">
                <a16:creationId xmlns:a16="http://schemas.microsoft.com/office/drawing/2014/main" id="{8154BD01-11E5-4AF1-B381-503B90DA1FD4}"/>
              </a:ext>
            </a:extLst>
          </p:cNvPr>
          <p:cNvSpPr>
            <a:spLocks noGrp="1"/>
          </p:cNvSpPr>
          <p:nvPr/>
        </p:nvSpPr>
        <p:spPr>
          <a:xfrm>
            <a:off x="5476875" y="165735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132238"/>
                </a:solidFill>
              </a:defRPr>
            </a:pPr>
            <a:r>
              <a:rPr sz="2100" b="0">
                <a:solidFill>
                  <a:srgbClr val="132238"/>
                </a:solidFill>
              </a:rPr>
              <a:t>Ask -&gt; safe SQL</a:t>
            </a:r>
          </a:p>
        </p:txBody>
      </p:sp>
      <p:sp>
        <p:nvSpPr>
          <p:cNvPr id="8" name="s1-dot-0">
            <a:extLst>
              <a:ext uri="{FF2B5EF4-FFF2-40B4-BE49-F238E27FC236}">
                <a16:creationId xmlns:a16="http://schemas.microsoft.com/office/drawing/2014/main" id="{F90B6D7C-3B0A-4957-943A-95CA3C6CBBC4}"/>
              </a:ext>
            </a:extLst>
          </p:cNvPr>
          <p:cNvSpPr>
            <a:spLocks noGrp="1"/>
          </p:cNvSpPr>
          <p:nvPr/>
        </p:nvSpPr>
        <p:spPr>
          <a:xfrm>
            <a:off x="5210175" y="1771650"/>
            <a:ext cx="95250" cy="95250"/>
          </a:xfrm>
          <a:prstGeom prst="ellipse">
            <a:avLst/>
          </a:prstGeom>
          <a:solidFill>
            <a:srgbClr val="1F77B4"/>
          </a:solidFill>
          <a:ln w="0">
            <a:noFill/>
            <a:prstDash val="solid"/>
          </a:ln>
        </p:spPr>
      </p:sp>
      <p:sp>
        <p:nvSpPr>
          <p:cNvPr id="9" name="s1-bullet-1">
            <a:extLst>
              <a:ext uri="{FF2B5EF4-FFF2-40B4-BE49-F238E27FC236}">
                <a16:creationId xmlns:a16="http://schemas.microsoft.com/office/drawing/2014/main" id="{B5976568-13B6-408D-9291-37244F8DDD20}"/>
              </a:ext>
            </a:extLst>
          </p:cNvPr>
          <p:cNvSpPr>
            <a:spLocks noGrp="1"/>
          </p:cNvSpPr>
          <p:nvPr/>
        </p:nvSpPr>
        <p:spPr>
          <a:xfrm>
            <a:off x="5476875" y="240030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132238"/>
                </a:solidFill>
              </a:defRPr>
            </a:pPr>
            <a:r>
              <a:rPr sz="2100" b="0">
                <a:solidFill>
                  <a:srgbClr val="132238"/>
                </a:solidFill>
              </a:rPr>
              <a:t>Analyze -&gt; styled charts</a:t>
            </a:r>
          </a:p>
        </p:txBody>
      </p:sp>
      <p:sp>
        <p:nvSpPr>
          <p:cNvPr id="10" name="s1-dot-1">
            <a:extLst>
              <a:ext uri="{FF2B5EF4-FFF2-40B4-BE49-F238E27FC236}">
                <a16:creationId xmlns:a16="http://schemas.microsoft.com/office/drawing/2014/main" id="{721FB421-2F51-4A49-8E31-123FD2D05A45}"/>
              </a:ext>
            </a:extLst>
          </p:cNvPr>
          <p:cNvSpPr>
            <a:spLocks noGrp="1"/>
          </p:cNvSpPr>
          <p:nvPr/>
        </p:nvSpPr>
        <p:spPr>
          <a:xfrm>
            <a:off x="5210175" y="2514600"/>
            <a:ext cx="95250" cy="95250"/>
          </a:xfrm>
          <a:prstGeom prst="ellipse">
            <a:avLst/>
          </a:prstGeom>
          <a:solidFill>
            <a:srgbClr val="1F77B4"/>
          </a:solidFill>
          <a:ln w="0">
            <a:noFill/>
            <a:prstDash val="solid"/>
          </a:ln>
        </p:spPr>
      </p:sp>
      <p:sp>
        <p:nvSpPr>
          <p:cNvPr id="11" name="s1-bullet-2">
            <a:extLst>
              <a:ext uri="{FF2B5EF4-FFF2-40B4-BE49-F238E27FC236}">
                <a16:creationId xmlns:a16="http://schemas.microsoft.com/office/drawing/2014/main" id="{8EB97E72-999D-46C0-8A26-1C0567744C6C}"/>
              </a:ext>
            </a:extLst>
          </p:cNvPr>
          <p:cNvSpPr>
            <a:spLocks noGrp="1"/>
          </p:cNvSpPr>
          <p:nvPr/>
        </p:nvSpPr>
        <p:spPr>
          <a:xfrm>
            <a:off x="5476875" y="314325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132238"/>
                </a:solidFill>
              </a:defRPr>
            </a:pPr>
            <a:r>
              <a:rPr sz="2100" b="0">
                <a:solidFill>
                  <a:srgbClr val="132238"/>
                </a:solidFill>
              </a:rPr>
              <a:t>Role-based access</a:t>
            </a:r>
          </a:p>
        </p:txBody>
      </p:sp>
      <p:sp>
        <p:nvSpPr>
          <p:cNvPr id="12" name="s1-dot-2">
            <a:extLst>
              <a:ext uri="{FF2B5EF4-FFF2-40B4-BE49-F238E27FC236}">
                <a16:creationId xmlns:a16="http://schemas.microsoft.com/office/drawing/2014/main" id="{A44BE3CA-8250-4EFA-A3DC-E91DF5D12DB6}"/>
              </a:ext>
            </a:extLst>
          </p:cNvPr>
          <p:cNvSpPr>
            <a:spLocks noGrp="1"/>
          </p:cNvSpPr>
          <p:nvPr/>
        </p:nvSpPr>
        <p:spPr>
          <a:xfrm>
            <a:off x="5210175" y="3257550"/>
            <a:ext cx="95250" cy="95250"/>
          </a:xfrm>
          <a:prstGeom prst="ellipse">
            <a:avLst/>
          </a:prstGeom>
          <a:solidFill>
            <a:srgbClr val="1F77B4"/>
          </a:solidFill>
          <a:ln w="0">
            <a:noFill/>
            <a:prstDash val="solid"/>
          </a:ln>
        </p:spPr>
      </p:sp>
      <p:sp>
        <p:nvSpPr>
          <p:cNvPr id="13" name="s1-bullet-3">
            <a:extLst>
              <a:ext uri="{FF2B5EF4-FFF2-40B4-BE49-F238E27FC236}">
                <a16:creationId xmlns:a16="http://schemas.microsoft.com/office/drawing/2014/main" id="{2717A56B-2B53-4E21-832E-00967F848246}"/>
              </a:ext>
            </a:extLst>
          </p:cNvPr>
          <p:cNvSpPr>
            <a:spLocks noGrp="1"/>
          </p:cNvSpPr>
          <p:nvPr/>
        </p:nvSpPr>
        <p:spPr>
          <a:xfrm>
            <a:off x="5476875" y="388620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132238"/>
                </a:solidFill>
              </a:defRPr>
            </a:pPr>
            <a:r>
              <a:rPr sz="2100" b="0">
                <a:solidFill>
                  <a:srgbClr val="132238"/>
                </a:solidFill>
              </a:rPr>
              <a:t>Add DBs via UI/CLI</a:t>
            </a:r>
          </a:p>
        </p:txBody>
      </p:sp>
      <p:sp>
        <p:nvSpPr>
          <p:cNvPr id="14" name="s1-dot-3">
            <a:extLst>
              <a:ext uri="{FF2B5EF4-FFF2-40B4-BE49-F238E27FC236}">
                <a16:creationId xmlns:a16="http://schemas.microsoft.com/office/drawing/2014/main" id="{EF888D78-D305-41EB-8B23-93577B82CAE5}"/>
              </a:ext>
            </a:extLst>
          </p:cNvPr>
          <p:cNvSpPr>
            <a:spLocks noGrp="1"/>
          </p:cNvSpPr>
          <p:nvPr/>
        </p:nvSpPr>
        <p:spPr>
          <a:xfrm>
            <a:off x="5210175" y="4000500"/>
            <a:ext cx="95250" cy="95250"/>
          </a:xfrm>
          <a:prstGeom prst="ellipse">
            <a:avLst/>
          </a:prstGeom>
          <a:solidFill>
            <a:srgbClr val="FF7F0E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7489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kicker">
            <a:extLst>
              <a:ext uri="{FF2B5EF4-FFF2-40B4-BE49-F238E27FC236}">
                <a16:creationId xmlns:a16="http://schemas.microsoft.com/office/drawing/2014/main" id="{767E7D9A-F9B7-4287-9B79-18FA85BEBBD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1F77B4"/>
                </a:solidFill>
              </a:defRPr>
            </a:pPr>
            <a:r>
              <a:rPr sz="975" b="1">
                <a:solidFill>
                  <a:srgbClr val="1F77B4"/>
                </a:solidFill>
              </a:rPr>
              <a:t>AI TALENT LAB CASE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B019FD5-0971-4504-94BE-4331D30D2D8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132238"/>
                </a:solidFill>
              </a:defRPr>
            </a:pPr>
            <a:r>
              <a:rPr sz="2850" b="1">
                <a:solidFill>
                  <a:srgbClr val="132238"/>
                </a:solidFill>
              </a:rPr>
              <a:t>Two agents collaborate through one result object</a:t>
            </a:r>
          </a:p>
        </p:txBody>
      </p:sp>
      <p:sp>
        <p:nvSpPr>
          <p:cNvPr id="3" name="header-rule">
            <a:extLst>
              <a:ext uri="{FF2B5EF4-FFF2-40B4-BE49-F238E27FC236}">
                <a16:creationId xmlns:a16="http://schemas.microsoft.com/office/drawing/2014/main" id="{612A6F7C-4A12-434D-8202-E1C2E1BDFBCA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footer-2">
            <a:extLst>
              <a:ext uri="{FF2B5EF4-FFF2-40B4-BE49-F238E27FC236}">
                <a16:creationId xmlns:a16="http://schemas.microsoft.com/office/drawing/2014/main" id="{BF199B04-632E-4C40-8537-1E82EB86D3B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7A8695"/>
                </a:solidFill>
              </a:defRPr>
            </a:pPr>
            <a:r>
              <a:rPr sz="900" b="0">
                <a:solidFill>
                  <a:srgbClr val="7A8695"/>
                </a:solidFill>
              </a:rPr>
              <a:t>Autonomous AI Agents Case  |  2/4</a:t>
            </a:r>
          </a:p>
        </p:txBody>
      </p:sp>
      <p:sp>
        <p:nvSpPr>
          <p:cNvPr id="5" name="section-entry points">
            <a:extLst>
              <a:ext uri="{FF2B5EF4-FFF2-40B4-BE49-F238E27FC236}">
                <a16:creationId xmlns:a16="http://schemas.microsoft.com/office/drawing/2014/main" id="{98DED9E9-0893-475D-A572-787AE5685B4F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7625" cy="285750"/>
          </a:xfrm>
          <a:prstGeom prst="rect">
            <a:avLst/>
          </a:prstGeom>
          <a:solidFill>
            <a:srgbClr val="1F77B4"/>
          </a:solidFill>
          <a:ln w="0">
            <a:solidFill>
              <a:srgbClr val="1F77B4"/>
            </a:solidFill>
            <a:prstDash val="solid"/>
          </a:ln>
        </p:spPr>
      </p:sp>
      <p:sp>
        <p:nvSpPr>
          <p:cNvPr id="6" name="section-label-entry points">
            <a:extLst>
              <a:ext uri="{FF2B5EF4-FFF2-40B4-BE49-F238E27FC236}">
                <a16:creationId xmlns:a16="http://schemas.microsoft.com/office/drawing/2014/main" id="{76186EBC-30B5-4D61-BA97-F095A5570475}"/>
              </a:ext>
            </a:extLst>
          </p:cNvPr>
          <p:cNvSpPr>
            <a:spLocks noGrp="1"/>
          </p:cNvSpPr>
          <p:nvPr/>
        </p:nvSpPr>
        <p:spPr>
          <a:xfrm>
            <a:off x="819150" y="1943100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E6B7A"/>
                </a:solidFill>
              </a:defRPr>
            </a:pPr>
            <a:r>
              <a:rPr sz="975" b="1">
                <a:solidFill>
                  <a:srgbClr val="5E6B7A"/>
                </a:solidFill>
              </a:rPr>
              <a:t>ENTRY POINTS</a:t>
            </a:r>
          </a:p>
        </p:txBody>
      </p:sp>
      <p:sp>
        <p:nvSpPr>
          <p:cNvPr id="7" name="section-control">
            <a:extLst>
              <a:ext uri="{FF2B5EF4-FFF2-40B4-BE49-F238E27FC236}">
                <a16:creationId xmlns:a16="http://schemas.microsoft.com/office/drawing/2014/main" id="{4AA4CB00-D363-47E9-A869-4F915D4E6FCB}"/>
              </a:ext>
            </a:extLst>
          </p:cNvPr>
          <p:cNvSpPr>
            <a:spLocks noGrp="1"/>
          </p:cNvSpPr>
          <p:nvPr/>
        </p:nvSpPr>
        <p:spPr>
          <a:xfrm>
            <a:off x="2952750" y="2000250"/>
            <a:ext cx="47625" cy="285750"/>
          </a:xfrm>
          <a:prstGeom prst="rect">
            <a:avLst/>
          </a:prstGeom>
          <a:solidFill>
            <a:srgbClr val="FF7F0E"/>
          </a:solidFill>
          <a:ln w="0">
            <a:solidFill>
              <a:srgbClr val="FF7F0E"/>
            </a:solidFill>
            <a:prstDash val="solid"/>
          </a:ln>
        </p:spPr>
      </p:sp>
      <p:sp>
        <p:nvSpPr>
          <p:cNvPr id="8" name="section-label-control">
            <a:extLst>
              <a:ext uri="{FF2B5EF4-FFF2-40B4-BE49-F238E27FC236}">
                <a16:creationId xmlns:a16="http://schemas.microsoft.com/office/drawing/2014/main" id="{6548A9E1-38B8-4342-9BE3-9ED20FCC0BDF}"/>
              </a:ext>
            </a:extLst>
          </p:cNvPr>
          <p:cNvSpPr>
            <a:spLocks noGrp="1"/>
          </p:cNvSpPr>
          <p:nvPr/>
        </p:nvSpPr>
        <p:spPr>
          <a:xfrm>
            <a:off x="3086100" y="19431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E6B7A"/>
                </a:solidFill>
              </a:defRPr>
            </a:pPr>
            <a:r>
              <a:rPr sz="975" b="1">
                <a:solidFill>
                  <a:srgbClr val="5E6B7A"/>
                </a:solidFill>
              </a:rPr>
              <a:t>CONTROL</a:t>
            </a:r>
          </a:p>
        </p:txBody>
      </p:sp>
      <p:sp>
        <p:nvSpPr>
          <p:cNvPr id="9" name="section-support modules">
            <a:extLst>
              <a:ext uri="{FF2B5EF4-FFF2-40B4-BE49-F238E27FC236}">
                <a16:creationId xmlns:a16="http://schemas.microsoft.com/office/drawing/2014/main" id="{7D909916-C06E-419C-8DFB-3D7553FB9A0F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47625" cy="285750"/>
          </a:xfrm>
          <a:prstGeom prst="rect">
            <a:avLst/>
          </a:prstGeom>
          <a:solidFill>
            <a:srgbClr val="FF7F0E"/>
          </a:solidFill>
          <a:ln w="0">
            <a:solidFill>
              <a:srgbClr val="FF7F0E"/>
            </a:solidFill>
            <a:prstDash val="solid"/>
          </a:ln>
        </p:spPr>
      </p:sp>
      <p:sp>
        <p:nvSpPr>
          <p:cNvPr id="10" name="section-label-support modules">
            <a:extLst>
              <a:ext uri="{FF2B5EF4-FFF2-40B4-BE49-F238E27FC236}">
                <a16:creationId xmlns:a16="http://schemas.microsoft.com/office/drawing/2014/main" id="{F74E2CA6-169C-4DF3-B1A4-CEEFABE3FC3E}"/>
              </a:ext>
            </a:extLst>
          </p:cNvPr>
          <p:cNvSpPr>
            <a:spLocks noGrp="1"/>
          </p:cNvSpPr>
          <p:nvPr/>
        </p:nvSpPr>
        <p:spPr>
          <a:xfrm>
            <a:off x="819150" y="525780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E6B7A"/>
                </a:solidFill>
              </a:defRPr>
            </a:pPr>
            <a:r>
              <a:rPr sz="975" b="1">
                <a:solidFill>
                  <a:srgbClr val="5E6B7A"/>
                </a:solidFill>
              </a:rPr>
              <a:t>SUPPORT MODULES</a:t>
            </a:r>
          </a:p>
        </p:txBody>
      </p:sp>
      <p:sp>
        <p:nvSpPr>
          <p:cNvPr id="11" name="section-results">
            <a:extLst>
              <a:ext uri="{FF2B5EF4-FFF2-40B4-BE49-F238E27FC236}">
                <a16:creationId xmlns:a16="http://schemas.microsoft.com/office/drawing/2014/main" id="{3178AA68-8C07-4E2F-82BA-87B6F87B1065}"/>
              </a:ext>
            </a:extLst>
          </p:cNvPr>
          <p:cNvSpPr>
            <a:spLocks noGrp="1"/>
          </p:cNvSpPr>
          <p:nvPr/>
        </p:nvSpPr>
        <p:spPr>
          <a:xfrm>
            <a:off x="9563100" y="2743200"/>
            <a:ext cx="47625" cy="285750"/>
          </a:xfrm>
          <a:prstGeom prst="rect">
            <a:avLst/>
          </a:prstGeom>
          <a:solidFill>
            <a:srgbClr val="1F77B4"/>
          </a:solidFill>
          <a:ln w="0">
            <a:solidFill>
              <a:srgbClr val="1F77B4"/>
            </a:solidFill>
            <a:prstDash val="solid"/>
          </a:ln>
        </p:spPr>
      </p:sp>
      <p:sp>
        <p:nvSpPr>
          <p:cNvPr id="12" name="section-label-results">
            <a:extLst>
              <a:ext uri="{FF2B5EF4-FFF2-40B4-BE49-F238E27FC236}">
                <a16:creationId xmlns:a16="http://schemas.microsoft.com/office/drawing/2014/main" id="{E3D9FB7F-6588-477F-8CF3-C7855959F257}"/>
              </a:ext>
            </a:extLst>
          </p:cNvPr>
          <p:cNvSpPr>
            <a:spLocks noGrp="1"/>
          </p:cNvSpPr>
          <p:nvPr/>
        </p:nvSpPr>
        <p:spPr>
          <a:xfrm>
            <a:off x="9696450" y="2686050"/>
            <a:ext cx="95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E6B7A"/>
                </a:solidFill>
              </a:defRPr>
            </a:pPr>
            <a:r>
              <a:rPr sz="975" b="1">
                <a:solidFill>
                  <a:srgbClr val="5E6B7A"/>
                </a:solidFill>
              </a:rPr>
              <a:t>RESULTS</a:t>
            </a:r>
          </a:p>
        </p:txBody>
      </p:sp>
      <p:sp>
        <p:nvSpPr>
          <p:cNvPr id="13" name="streamlit-ui">
            <a:extLst>
              <a:ext uri="{FF2B5EF4-FFF2-40B4-BE49-F238E27FC236}">
                <a16:creationId xmlns:a16="http://schemas.microsoft.com/office/drawing/2014/main" id="{4F4828E1-D8D7-494A-92A4-BB72164FDCCD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1619250" cy="609600"/>
          </a:xfrm>
          <a:prstGeom prst="roundRect">
            <a:avLst>
              <a:gd name="adj" fmla="val 21875"/>
            </a:avLst>
          </a:prstGeom>
          <a:solidFill>
            <a:srgbClr val="F6F8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streamlit-ui-title">
            <a:extLst>
              <a:ext uri="{FF2B5EF4-FFF2-40B4-BE49-F238E27FC236}">
                <a16:creationId xmlns:a16="http://schemas.microsoft.com/office/drawing/2014/main" id="{6BEF825E-1287-4731-8755-BAFD730BD122}"/>
              </a:ext>
            </a:extLst>
          </p:cNvPr>
          <p:cNvSpPr>
            <a:spLocks noGrp="1"/>
          </p:cNvSpPr>
          <p:nvPr/>
        </p:nvSpPr>
        <p:spPr>
          <a:xfrm>
            <a:off x="857250" y="24193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Streamlit UI</a:t>
            </a:r>
          </a:p>
        </p:txBody>
      </p:sp>
      <p:sp>
        <p:nvSpPr>
          <p:cNvPr id="15" name="streamlit-ui-body">
            <a:extLst>
              <a:ext uri="{FF2B5EF4-FFF2-40B4-BE49-F238E27FC236}">
                <a16:creationId xmlns:a16="http://schemas.microsoft.com/office/drawing/2014/main" id="{2686B919-4B87-4E44-B434-0CE05137F45D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5E6B7A"/>
                </a:solidFill>
              </a:defRPr>
            </a:pPr>
            <a:r>
              <a:rPr sz="975" b="0">
                <a:solidFill>
                  <a:srgbClr val="5E6B7A"/>
                </a:solidFill>
              </a:rPr>
              <a:t>guided user controls</a:t>
            </a:r>
          </a:p>
        </p:txBody>
      </p:sp>
      <p:sp>
        <p:nvSpPr>
          <p:cNvPr id="16" name="cli-entry">
            <a:extLst>
              <a:ext uri="{FF2B5EF4-FFF2-40B4-BE49-F238E27FC236}">
                <a16:creationId xmlns:a16="http://schemas.microsoft.com/office/drawing/2014/main" id="{506BCBC8-5B7F-49C6-966B-0711D3952A03}"/>
              </a:ext>
            </a:extLst>
          </p:cNvPr>
          <p:cNvSpPr>
            <a:spLocks noGrp="1"/>
          </p:cNvSpPr>
          <p:nvPr/>
        </p:nvSpPr>
        <p:spPr>
          <a:xfrm>
            <a:off x="742950" y="3124200"/>
            <a:ext cx="1619250" cy="609600"/>
          </a:xfrm>
          <a:prstGeom prst="roundRect">
            <a:avLst>
              <a:gd name="adj" fmla="val 21875"/>
            </a:avLst>
          </a:prstGeom>
          <a:solidFill>
            <a:srgbClr val="F6F8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cli-entry-title">
            <a:extLst>
              <a:ext uri="{FF2B5EF4-FFF2-40B4-BE49-F238E27FC236}">
                <a16:creationId xmlns:a16="http://schemas.microsoft.com/office/drawing/2014/main" id="{29ABB027-6DB5-48DF-860B-5F92F04A1B63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CLI</a:t>
            </a:r>
          </a:p>
        </p:txBody>
      </p:sp>
      <p:sp>
        <p:nvSpPr>
          <p:cNvPr id="18" name="cli-entry-body">
            <a:extLst>
              <a:ext uri="{FF2B5EF4-FFF2-40B4-BE49-F238E27FC236}">
                <a16:creationId xmlns:a16="http://schemas.microsoft.com/office/drawing/2014/main" id="{C8206FA4-0566-41B5-8772-4A7C646A39C7}"/>
              </a:ext>
            </a:extLst>
          </p:cNvPr>
          <p:cNvSpPr>
            <a:spLocks noGrp="1"/>
          </p:cNvSpPr>
          <p:nvPr/>
        </p:nvSpPr>
        <p:spPr>
          <a:xfrm>
            <a:off x="876300" y="350520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5E6B7A"/>
                </a:solidFill>
              </a:defRPr>
            </a:pPr>
            <a:r>
              <a:rPr sz="975" b="0">
                <a:solidFill>
                  <a:srgbClr val="5E6B7A"/>
                </a:solidFill>
              </a:rPr>
              <a:t>same backend path</a:t>
            </a:r>
          </a:p>
        </p:txBody>
      </p:sp>
      <p:sp>
        <p:nvSpPr>
          <p:cNvPr id="19" name="agent-orchestrator">
            <a:extLst>
              <a:ext uri="{FF2B5EF4-FFF2-40B4-BE49-F238E27FC236}">
                <a16:creationId xmlns:a16="http://schemas.microsoft.com/office/drawing/2014/main" id="{A7FB4BA5-4DBF-41C1-A0E0-44D0B0FE59C2}"/>
              </a:ext>
            </a:extLst>
          </p:cNvPr>
          <p:cNvSpPr>
            <a:spLocks noGrp="1"/>
          </p:cNvSpPr>
          <p:nvPr/>
        </p:nvSpPr>
        <p:spPr>
          <a:xfrm>
            <a:off x="2952750" y="2343150"/>
            <a:ext cx="2686050" cy="876300"/>
          </a:xfrm>
          <a:prstGeom prst="roundRect">
            <a:avLst>
              <a:gd name="adj" fmla="val 15217"/>
            </a:avLst>
          </a:prstGeom>
          <a:solidFill>
            <a:srgbClr val="FFF4E8"/>
          </a:solidFill>
          <a:ln w="9525">
            <a:solidFill>
              <a:srgbClr val="FF7F0E"/>
            </a:solidFill>
            <a:prstDash val="solid"/>
          </a:ln>
        </p:spPr>
      </p:sp>
      <p:sp>
        <p:nvSpPr>
          <p:cNvPr id="20" name="agent-orchestrator-title">
            <a:extLst>
              <a:ext uri="{FF2B5EF4-FFF2-40B4-BE49-F238E27FC236}">
                <a16:creationId xmlns:a16="http://schemas.microsoft.com/office/drawing/2014/main" id="{5F074E8C-BE65-4A52-BB79-738519F65FF9}"/>
              </a:ext>
            </a:extLst>
          </p:cNvPr>
          <p:cNvSpPr>
            <a:spLocks noGrp="1"/>
          </p:cNvSpPr>
          <p:nvPr/>
        </p:nvSpPr>
        <p:spPr>
          <a:xfrm>
            <a:off x="3067050" y="2457450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AgentOrchestrator</a:t>
            </a:r>
          </a:p>
        </p:txBody>
      </p:sp>
      <p:sp>
        <p:nvSpPr>
          <p:cNvPr id="21" name="agent-orchestrator-body">
            <a:extLst>
              <a:ext uri="{FF2B5EF4-FFF2-40B4-BE49-F238E27FC236}">
                <a16:creationId xmlns:a16="http://schemas.microsoft.com/office/drawing/2014/main" id="{1089453C-A188-4C3D-8E3F-9651D6BE959F}"/>
              </a:ext>
            </a:extLst>
          </p:cNvPr>
          <p:cNvSpPr>
            <a:spLocks noGrp="1"/>
          </p:cNvSpPr>
          <p:nvPr/>
        </p:nvSpPr>
        <p:spPr>
          <a:xfrm>
            <a:off x="3086100" y="2724150"/>
            <a:ext cx="2419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5E6B7A"/>
                </a:solidFill>
              </a:defRPr>
            </a:pPr>
            <a:r>
              <a:rPr sz="975" b="0">
                <a:solidFill>
                  <a:srgbClr val="5E6B7A"/>
                </a:solidFill>
              </a:rPr>
              <a:t>access check + DB lookup + agent handoff</a:t>
            </a:r>
          </a:p>
        </p:txBody>
      </p:sp>
      <p:sp>
        <p:nvSpPr>
          <p:cNvPr id="22" name="access-control">
            <a:extLst>
              <a:ext uri="{FF2B5EF4-FFF2-40B4-BE49-F238E27FC236}">
                <a16:creationId xmlns:a16="http://schemas.microsoft.com/office/drawing/2014/main" id="{87A85BBA-4FEF-4129-9272-CBA6120E5299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180975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access-control-title">
            <a:extLst>
              <a:ext uri="{FF2B5EF4-FFF2-40B4-BE49-F238E27FC236}">
                <a16:creationId xmlns:a16="http://schemas.microsoft.com/office/drawing/2014/main" id="{5F11C986-B674-462C-8322-2626D5EAD104}"/>
              </a:ext>
            </a:extLst>
          </p:cNvPr>
          <p:cNvSpPr>
            <a:spLocks noGrp="1"/>
          </p:cNvSpPr>
          <p:nvPr/>
        </p:nvSpPr>
        <p:spPr>
          <a:xfrm>
            <a:off x="6400800" y="2209800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AccessControl</a:t>
            </a:r>
          </a:p>
        </p:txBody>
      </p:sp>
      <p:sp>
        <p:nvSpPr>
          <p:cNvPr id="24" name="access-control-body">
            <a:extLst>
              <a:ext uri="{FF2B5EF4-FFF2-40B4-BE49-F238E27FC236}">
                <a16:creationId xmlns:a16="http://schemas.microsoft.com/office/drawing/2014/main" id="{4CDD23EE-6E85-42C3-9121-B3D7D9F0D282}"/>
              </a:ext>
            </a:extLst>
          </p:cNvPr>
          <p:cNvSpPr>
            <a:spLocks noGrp="1"/>
          </p:cNvSpPr>
          <p:nvPr/>
        </p:nvSpPr>
        <p:spPr>
          <a:xfrm>
            <a:off x="6419850" y="247650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5E6B7A"/>
                </a:solidFill>
              </a:defRPr>
            </a:pPr>
            <a:r>
              <a:rPr sz="975" b="0">
                <a:solidFill>
                  <a:srgbClr val="5E6B7A"/>
                </a:solidFill>
              </a:rPr>
              <a:t>loads users.yaml</a:t>
            </a:r>
          </a:p>
        </p:txBody>
      </p:sp>
      <p:sp>
        <p:nvSpPr>
          <p:cNvPr id="25" name="database-registry">
            <a:extLst>
              <a:ext uri="{FF2B5EF4-FFF2-40B4-BE49-F238E27FC236}">
                <a16:creationId xmlns:a16="http://schemas.microsoft.com/office/drawing/2014/main" id="{D4139EBF-F27D-41B3-AAE9-0759BBD29A20}"/>
              </a:ext>
            </a:extLst>
          </p:cNvPr>
          <p:cNvSpPr>
            <a:spLocks noGrp="1"/>
          </p:cNvSpPr>
          <p:nvPr/>
        </p:nvSpPr>
        <p:spPr>
          <a:xfrm>
            <a:off x="6286500" y="2895600"/>
            <a:ext cx="180975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database-registry-title">
            <a:extLst>
              <a:ext uri="{FF2B5EF4-FFF2-40B4-BE49-F238E27FC236}">
                <a16:creationId xmlns:a16="http://schemas.microsoft.com/office/drawing/2014/main" id="{C3E44661-58D7-40F4-979A-FA9392B6C838}"/>
              </a:ext>
            </a:extLst>
          </p:cNvPr>
          <p:cNvSpPr>
            <a:spLocks noGrp="1"/>
          </p:cNvSpPr>
          <p:nvPr/>
        </p:nvSpPr>
        <p:spPr>
          <a:xfrm>
            <a:off x="6400800" y="3009900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DatabaseRegistry</a:t>
            </a:r>
          </a:p>
        </p:txBody>
      </p:sp>
      <p:sp>
        <p:nvSpPr>
          <p:cNvPr id="27" name="database-registry-body">
            <a:extLst>
              <a:ext uri="{FF2B5EF4-FFF2-40B4-BE49-F238E27FC236}">
                <a16:creationId xmlns:a16="http://schemas.microsoft.com/office/drawing/2014/main" id="{7E326C74-6C95-4966-8453-2D5D2B071495}"/>
              </a:ext>
            </a:extLst>
          </p:cNvPr>
          <p:cNvSpPr>
            <a:spLocks noGrp="1"/>
          </p:cNvSpPr>
          <p:nvPr/>
        </p:nvSpPr>
        <p:spPr>
          <a:xfrm>
            <a:off x="6419850" y="3276600"/>
            <a:ext cx="1543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5E6B7A"/>
                </a:solidFill>
              </a:defRPr>
            </a:pPr>
            <a:r>
              <a:rPr sz="975" b="0">
                <a:solidFill>
                  <a:srgbClr val="5E6B7A"/>
                </a:solidFill>
              </a:rPr>
              <a:t>loads + updates databases.yaml</a:t>
            </a:r>
          </a:p>
        </p:txBody>
      </p:sp>
      <p:sp>
        <p:nvSpPr>
          <p:cNvPr id="28" name="agent-collaboration-zone">
            <a:extLst>
              <a:ext uri="{FF2B5EF4-FFF2-40B4-BE49-F238E27FC236}">
                <a16:creationId xmlns:a16="http://schemas.microsoft.com/office/drawing/2014/main" id="{BE437034-417E-4725-9EEE-7FE4AE95FFEA}"/>
              </a:ext>
            </a:extLst>
          </p:cNvPr>
          <p:cNvSpPr>
            <a:spLocks noGrp="1"/>
          </p:cNvSpPr>
          <p:nvPr/>
        </p:nvSpPr>
        <p:spPr>
          <a:xfrm>
            <a:off x="2724150" y="3867150"/>
            <a:ext cx="6705600" cy="1371600"/>
          </a:xfrm>
          <a:prstGeom prst="roundRect">
            <a:avLst>
              <a:gd name="adj" fmla="val 11111"/>
            </a:avLst>
          </a:prstGeom>
          <a:solidFill>
            <a:srgbClr val="FAFCFE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section-two-agent layer">
            <a:extLst>
              <a:ext uri="{FF2B5EF4-FFF2-40B4-BE49-F238E27FC236}">
                <a16:creationId xmlns:a16="http://schemas.microsoft.com/office/drawing/2014/main" id="{E60213F7-002F-4110-BE65-30A40145CFBA}"/>
              </a:ext>
            </a:extLst>
          </p:cNvPr>
          <p:cNvSpPr>
            <a:spLocks noGrp="1"/>
          </p:cNvSpPr>
          <p:nvPr/>
        </p:nvSpPr>
        <p:spPr>
          <a:xfrm>
            <a:off x="2952750" y="3695700"/>
            <a:ext cx="47625" cy="285750"/>
          </a:xfrm>
          <a:prstGeom prst="rect">
            <a:avLst/>
          </a:prstGeom>
          <a:solidFill>
            <a:srgbClr val="1F77B4"/>
          </a:solidFill>
          <a:ln w="0">
            <a:solidFill>
              <a:srgbClr val="1F77B4"/>
            </a:solidFill>
            <a:prstDash val="solid"/>
          </a:ln>
        </p:spPr>
      </p:sp>
      <p:sp>
        <p:nvSpPr>
          <p:cNvPr id="30" name="section-label-two-agent layer">
            <a:extLst>
              <a:ext uri="{FF2B5EF4-FFF2-40B4-BE49-F238E27FC236}">
                <a16:creationId xmlns:a16="http://schemas.microsoft.com/office/drawing/2014/main" id="{12EA30BB-0B24-49E2-AFBF-487C96FDBC18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5E6B7A"/>
                </a:solidFill>
              </a:defRPr>
            </a:pPr>
            <a:r>
              <a:rPr sz="975" b="1">
                <a:solidFill>
                  <a:srgbClr val="5E6B7A"/>
                </a:solidFill>
              </a:rPr>
              <a:t>TWO-AGENT LAYER</a:t>
            </a:r>
          </a:p>
        </p:txBody>
      </p:sp>
      <p:sp>
        <p:nvSpPr>
          <p:cNvPr id="31" name="agent-collaboration-title">
            <a:extLst>
              <a:ext uri="{FF2B5EF4-FFF2-40B4-BE49-F238E27FC236}">
                <a16:creationId xmlns:a16="http://schemas.microsoft.com/office/drawing/2014/main" id="{496F3A19-AF94-404B-B1F3-FDE117C835B4}"/>
              </a:ext>
            </a:extLst>
          </p:cNvPr>
          <p:cNvSpPr>
            <a:spLocks noGrp="1"/>
          </p:cNvSpPr>
          <p:nvPr/>
        </p:nvSpPr>
        <p:spPr>
          <a:xfrm>
            <a:off x="3124200" y="39243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5E6B7A"/>
                </a:solidFill>
              </a:defRPr>
            </a:pPr>
            <a:r>
              <a:rPr sz="1125" b="1">
                <a:solidFill>
                  <a:srgbClr val="5E6B7A"/>
                </a:solidFill>
              </a:rPr>
              <a:t>AnalysisResult is the contract between the two agents</a:t>
            </a:r>
          </a:p>
        </p:txBody>
      </p:sp>
      <p:sp>
        <p:nvSpPr>
          <p:cNvPr id="32" name="analysis-agent">
            <a:extLst>
              <a:ext uri="{FF2B5EF4-FFF2-40B4-BE49-F238E27FC236}">
                <a16:creationId xmlns:a16="http://schemas.microsoft.com/office/drawing/2014/main" id="{2CDA7956-AF3D-4A77-B3B2-01430FFBD7D0}"/>
              </a:ext>
            </a:extLst>
          </p:cNvPr>
          <p:cNvSpPr>
            <a:spLocks noGrp="1"/>
          </p:cNvSpPr>
          <p:nvPr/>
        </p:nvSpPr>
        <p:spPr>
          <a:xfrm>
            <a:off x="2952750" y="4210050"/>
            <a:ext cx="2686050" cy="819150"/>
          </a:xfrm>
          <a:prstGeom prst="roundRect">
            <a:avLst>
              <a:gd name="adj" fmla="val 16279"/>
            </a:avLst>
          </a:prstGeom>
          <a:solidFill>
            <a:srgbClr val="EDF6FD"/>
          </a:solidFill>
          <a:ln w="9525">
            <a:solidFill>
              <a:srgbClr val="1F77B4"/>
            </a:solidFill>
            <a:prstDash val="solid"/>
          </a:ln>
        </p:spPr>
      </p:sp>
      <p:sp>
        <p:nvSpPr>
          <p:cNvPr id="33" name="analysis-agent-title">
            <a:extLst>
              <a:ext uri="{FF2B5EF4-FFF2-40B4-BE49-F238E27FC236}">
                <a16:creationId xmlns:a16="http://schemas.microsoft.com/office/drawing/2014/main" id="{75FF3BA7-C55A-4A73-9D2D-469F6ECB5D8B}"/>
              </a:ext>
            </a:extLst>
          </p:cNvPr>
          <p:cNvSpPr>
            <a:spLocks noGrp="1"/>
          </p:cNvSpPr>
          <p:nvPr/>
        </p:nvSpPr>
        <p:spPr>
          <a:xfrm>
            <a:off x="3067050" y="4324350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32238"/>
                </a:solidFill>
              </a:defRPr>
            </a:pPr>
            <a:r>
              <a:rPr sz="1425" b="1">
                <a:solidFill>
                  <a:srgbClr val="132238"/>
                </a:solidFill>
              </a:rPr>
              <a:t>Data Analysis Agent</a:t>
            </a:r>
          </a:p>
        </p:txBody>
      </p:sp>
      <p:sp>
        <p:nvSpPr>
          <p:cNvPr id="34" name="analysis-agent-body">
            <a:extLst>
              <a:ext uri="{FF2B5EF4-FFF2-40B4-BE49-F238E27FC236}">
                <a16:creationId xmlns:a16="http://schemas.microsoft.com/office/drawing/2014/main" id="{BD009118-F55E-41C9-AD5B-E0D5848C6BB4}"/>
              </a:ext>
            </a:extLst>
          </p:cNvPr>
          <p:cNvSpPr>
            <a:spLocks noGrp="1"/>
          </p:cNvSpPr>
          <p:nvPr/>
        </p:nvSpPr>
        <p:spPr>
          <a:xfrm>
            <a:off x="3086100" y="4591050"/>
            <a:ext cx="2419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5E6B7A"/>
                </a:solidFill>
              </a:defRPr>
            </a:pPr>
            <a:r>
              <a:rPr sz="975" b="0">
                <a:solidFill>
                  <a:srgbClr val="5E6B7A"/>
                </a:solidFill>
              </a:rPr>
              <a:t>question -&gt; safe SQL -&gt; DataFrame</a:t>
            </a:r>
          </a:p>
        </p:txBody>
      </p:sp>
      <p:sp>
        <p:nvSpPr>
          <p:cNvPr id="35" name="visualization-agent">
            <a:extLst>
              <a:ext uri="{FF2B5EF4-FFF2-40B4-BE49-F238E27FC236}">
                <a16:creationId xmlns:a16="http://schemas.microsoft.com/office/drawing/2014/main" id="{AFA4DE87-1078-44CC-9B6D-A56680B6E7D4}"/>
              </a:ext>
            </a:extLst>
          </p:cNvPr>
          <p:cNvSpPr>
            <a:spLocks noGrp="1"/>
          </p:cNvSpPr>
          <p:nvPr/>
        </p:nvSpPr>
        <p:spPr>
          <a:xfrm>
            <a:off x="6572250" y="4210050"/>
            <a:ext cx="2686050" cy="819150"/>
          </a:xfrm>
          <a:prstGeom prst="roundRect">
            <a:avLst>
              <a:gd name="adj" fmla="val 16279"/>
            </a:avLst>
          </a:prstGeom>
          <a:solidFill>
            <a:srgbClr val="F7FA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6" name="visualization-agent-title">
            <a:extLst>
              <a:ext uri="{FF2B5EF4-FFF2-40B4-BE49-F238E27FC236}">
                <a16:creationId xmlns:a16="http://schemas.microsoft.com/office/drawing/2014/main" id="{0D3AE71A-295D-4EB3-935B-21BCCF2259FC}"/>
              </a:ext>
            </a:extLst>
          </p:cNvPr>
          <p:cNvSpPr>
            <a:spLocks noGrp="1"/>
          </p:cNvSpPr>
          <p:nvPr/>
        </p:nvSpPr>
        <p:spPr>
          <a:xfrm>
            <a:off x="6686550" y="4324350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32238"/>
                </a:solidFill>
              </a:defRPr>
            </a:pPr>
            <a:r>
              <a:rPr sz="1425" b="1">
                <a:solidFill>
                  <a:srgbClr val="132238"/>
                </a:solidFill>
              </a:rPr>
              <a:t>Data Visualization Agent</a:t>
            </a:r>
          </a:p>
        </p:txBody>
      </p:sp>
      <p:sp>
        <p:nvSpPr>
          <p:cNvPr id="37" name="visualization-agent-body">
            <a:extLst>
              <a:ext uri="{FF2B5EF4-FFF2-40B4-BE49-F238E27FC236}">
                <a16:creationId xmlns:a16="http://schemas.microsoft.com/office/drawing/2014/main" id="{BFC15E21-E31C-44A6-A745-3B922851D562}"/>
              </a:ext>
            </a:extLst>
          </p:cNvPr>
          <p:cNvSpPr>
            <a:spLocks noGrp="1"/>
          </p:cNvSpPr>
          <p:nvPr/>
        </p:nvSpPr>
        <p:spPr>
          <a:xfrm>
            <a:off x="6705600" y="4591050"/>
            <a:ext cx="2419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5E6B7A"/>
                </a:solidFill>
              </a:defRPr>
            </a:pPr>
            <a:r>
              <a:rPr sz="975" b="0">
                <a:solidFill>
                  <a:srgbClr val="5E6B7A"/>
                </a:solidFill>
              </a:rPr>
              <a:t>AnalysisResult -&gt; chart + CSV</a:t>
            </a:r>
          </a:p>
        </p:txBody>
      </p:sp>
      <p:sp>
        <p:nvSpPr>
          <p:cNvPr id="38" name="sql-source">
            <a:extLst>
              <a:ext uri="{FF2B5EF4-FFF2-40B4-BE49-F238E27FC236}">
                <a16:creationId xmlns:a16="http://schemas.microsoft.com/office/drawing/2014/main" id="{90EC5D44-E547-4454-934E-0A47AE6E8676}"/>
              </a:ext>
            </a:extLst>
          </p:cNvPr>
          <p:cNvSpPr>
            <a:spLocks noGrp="1"/>
          </p:cNvSpPr>
          <p:nvPr/>
        </p:nvSpPr>
        <p:spPr>
          <a:xfrm>
            <a:off x="742950" y="5600700"/>
            <a:ext cx="18097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9" name="sql-source-title">
            <a:extLst>
              <a:ext uri="{FF2B5EF4-FFF2-40B4-BE49-F238E27FC236}">
                <a16:creationId xmlns:a16="http://schemas.microsoft.com/office/drawing/2014/main" id="{085E1F60-C8FA-4ABB-8532-A15C79EC670D}"/>
              </a:ext>
            </a:extLst>
          </p:cNvPr>
          <p:cNvSpPr>
            <a:spLocks noGrp="1"/>
          </p:cNvSpPr>
          <p:nvPr/>
        </p:nvSpPr>
        <p:spPr>
          <a:xfrm>
            <a:off x="857250" y="5715000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132238"/>
                </a:solidFill>
              </a:defRPr>
            </a:pPr>
            <a:r>
              <a:rPr sz="1125" b="1">
                <a:solidFill>
                  <a:srgbClr val="132238"/>
                </a:solidFill>
              </a:rPr>
              <a:t>SQL generation</a:t>
            </a:r>
          </a:p>
        </p:txBody>
      </p:sp>
      <p:sp>
        <p:nvSpPr>
          <p:cNvPr id="40" name="sql-source-body">
            <a:extLst>
              <a:ext uri="{FF2B5EF4-FFF2-40B4-BE49-F238E27FC236}">
                <a16:creationId xmlns:a16="http://schemas.microsoft.com/office/drawing/2014/main" id="{0153B5AE-7D87-4EEA-8193-A9E3B1AAC3C0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E6B7A"/>
                </a:solidFill>
              </a:defRPr>
            </a:pPr>
            <a:r>
              <a:rPr sz="825" b="0">
                <a:solidFill>
                  <a:srgbClr val="5E6B7A"/>
                </a:solidFill>
              </a:rPr>
              <a:t>OpenAI or offline templates</a:t>
            </a:r>
          </a:p>
        </p:txBody>
      </p:sp>
      <p:sp>
        <p:nvSpPr>
          <p:cNvPr id="41" name="database-onboarding">
            <a:extLst>
              <a:ext uri="{FF2B5EF4-FFF2-40B4-BE49-F238E27FC236}">
                <a16:creationId xmlns:a16="http://schemas.microsoft.com/office/drawing/2014/main" id="{06D22518-F065-4A30-86DC-AF2D2F9FA831}"/>
              </a:ext>
            </a:extLst>
          </p:cNvPr>
          <p:cNvSpPr>
            <a:spLocks noGrp="1"/>
          </p:cNvSpPr>
          <p:nvPr/>
        </p:nvSpPr>
        <p:spPr>
          <a:xfrm>
            <a:off x="2819400" y="5600700"/>
            <a:ext cx="1809750" cy="647700"/>
          </a:xfrm>
          <a:prstGeom prst="roundRect">
            <a:avLst>
              <a:gd name="adj" fmla="val 20588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database-onboarding-title">
            <a:extLst>
              <a:ext uri="{FF2B5EF4-FFF2-40B4-BE49-F238E27FC236}">
                <a16:creationId xmlns:a16="http://schemas.microsoft.com/office/drawing/2014/main" id="{BBE9A85B-E63E-49D9-A145-302569820FC2}"/>
              </a:ext>
            </a:extLst>
          </p:cNvPr>
          <p:cNvSpPr>
            <a:spLocks noGrp="1"/>
          </p:cNvSpPr>
          <p:nvPr/>
        </p:nvSpPr>
        <p:spPr>
          <a:xfrm>
            <a:off x="2933700" y="5715000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132238"/>
                </a:solidFill>
              </a:defRPr>
            </a:pPr>
            <a:endParaRPr/>
          </a:p>
        </p:txBody>
      </p:sp>
      <p:sp>
        <p:nvSpPr>
          <p:cNvPr id="43" name="database-onboarding-body">
            <a:extLst>
              <a:ext uri="{FF2B5EF4-FFF2-40B4-BE49-F238E27FC236}">
                <a16:creationId xmlns:a16="http://schemas.microsoft.com/office/drawing/2014/main" id="{C01CFA38-3AF5-496E-9AE8-1998488C95C2}"/>
              </a:ext>
            </a:extLst>
          </p:cNvPr>
          <p:cNvSpPr>
            <a:spLocks noGrp="1"/>
          </p:cNvSpPr>
          <p:nvPr/>
        </p:nvSpPr>
        <p:spPr>
          <a:xfrm>
            <a:off x="2952750" y="59817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E6B7A"/>
                </a:solidFill>
              </a:defRPr>
            </a:pPr>
            <a:endParaRPr/>
          </a:p>
        </p:txBody>
      </p:sp>
      <p:sp>
        <p:nvSpPr>
          <p:cNvPr id="44" name="data-safety">
            <a:extLst>
              <a:ext uri="{FF2B5EF4-FFF2-40B4-BE49-F238E27FC236}">
                <a16:creationId xmlns:a16="http://schemas.microsoft.com/office/drawing/2014/main" id="{76716C2D-4069-4671-A689-1AD967560C7E}"/>
              </a:ext>
            </a:extLst>
          </p:cNvPr>
          <p:cNvSpPr>
            <a:spLocks noGrp="1"/>
          </p:cNvSpPr>
          <p:nvPr/>
        </p:nvSpPr>
        <p:spPr>
          <a:xfrm>
            <a:off x="4895850" y="5600700"/>
            <a:ext cx="198120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5" name="data-safety-title">
            <a:extLst>
              <a:ext uri="{FF2B5EF4-FFF2-40B4-BE49-F238E27FC236}">
                <a16:creationId xmlns:a16="http://schemas.microsoft.com/office/drawing/2014/main" id="{12DC5CFF-201A-4C86-B301-3B1D3ED3270A}"/>
              </a:ext>
            </a:extLst>
          </p:cNvPr>
          <p:cNvSpPr>
            <a:spLocks noGrp="1"/>
          </p:cNvSpPr>
          <p:nvPr/>
        </p:nvSpPr>
        <p:spPr>
          <a:xfrm>
            <a:off x="5010150" y="571500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132238"/>
                </a:solidFill>
              </a:defRPr>
            </a:pPr>
            <a:r>
              <a:rPr sz="1125" b="1">
                <a:solidFill>
                  <a:srgbClr val="132238"/>
                </a:solidFill>
              </a:rPr>
              <a:t>Safe data path</a:t>
            </a:r>
          </a:p>
        </p:txBody>
      </p:sp>
      <p:sp>
        <p:nvSpPr>
          <p:cNvPr id="46" name="data-safety-body">
            <a:extLst>
              <a:ext uri="{FF2B5EF4-FFF2-40B4-BE49-F238E27FC236}">
                <a16:creationId xmlns:a16="http://schemas.microsoft.com/office/drawing/2014/main" id="{FE2F6BCC-7769-4FBD-8B3F-266EF21E1149}"/>
              </a:ext>
            </a:extLst>
          </p:cNvPr>
          <p:cNvSpPr>
            <a:spLocks noGrp="1"/>
          </p:cNvSpPr>
          <p:nvPr/>
        </p:nvSpPr>
        <p:spPr>
          <a:xfrm>
            <a:off x="5029200" y="59817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E6B7A"/>
                </a:solidFill>
              </a:defRPr>
            </a:pPr>
            <a:r>
              <a:rPr sz="825" b="0">
                <a:solidFill>
                  <a:srgbClr val="5E6B7A"/>
                </a:solidFill>
              </a:rPr>
              <a:t>SQLGuard + read-only SQLite</a:t>
            </a:r>
          </a:p>
        </p:txBody>
      </p:sp>
      <p:sp>
        <p:nvSpPr>
          <p:cNvPr id="47" name="chart-factory">
            <a:extLst>
              <a:ext uri="{FF2B5EF4-FFF2-40B4-BE49-F238E27FC236}">
                <a16:creationId xmlns:a16="http://schemas.microsoft.com/office/drawing/2014/main" id="{75A9A410-616A-464A-AEF8-E11ABF152621}"/>
              </a:ext>
            </a:extLst>
          </p:cNvPr>
          <p:cNvSpPr>
            <a:spLocks noGrp="1"/>
          </p:cNvSpPr>
          <p:nvPr/>
        </p:nvSpPr>
        <p:spPr>
          <a:xfrm>
            <a:off x="7143750" y="5600700"/>
            <a:ext cx="180975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8" name="chart-factory-title">
            <a:extLst>
              <a:ext uri="{FF2B5EF4-FFF2-40B4-BE49-F238E27FC236}">
                <a16:creationId xmlns:a16="http://schemas.microsoft.com/office/drawing/2014/main" id="{CEBB1C64-972D-431D-B966-80B2531ED824}"/>
              </a:ext>
            </a:extLst>
          </p:cNvPr>
          <p:cNvSpPr>
            <a:spLocks noGrp="1"/>
          </p:cNvSpPr>
          <p:nvPr/>
        </p:nvSpPr>
        <p:spPr>
          <a:xfrm>
            <a:off x="7258050" y="5715000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132238"/>
                </a:solidFill>
              </a:defRPr>
            </a:pPr>
            <a:r>
              <a:rPr sz="1125" b="1">
                <a:solidFill>
                  <a:srgbClr val="132238"/>
                </a:solidFill>
              </a:rPr>
              <a:t>Chart styling</a:t>
            </a:r>
          </a:p>
        </p:txBody>
      </p:sp>
      <p:sp>
        <p:nvSpPr>
          <p:cNvPr id="49" name="chart-factory-body">
            <a:extLst>
              <a:ext uri="{FF2B5EF4-FFF2-40B4-BE49-F238E27FC236}">
                <a16:creationId xmlns:a16="http://schemas.microsoft.com/office/drawing/2014/main" id="{2C7B71DB-3D1A-46EA-A068-DF60A881B4E1}"/>
              </a:ext>
            </a:extLst>
          </p:cNvPr>
          <p:cNvSpPr>
            <a:spLocks noGrp="1"/>
          </p:cNvSpPr>
          <p:nvPr/>
        </p:nvSpPr>
        <p:spPr>
          <a:xfrm>
            <a:off x="7277100" y="59817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E6B7A"/>
                </a:solidFill>
              </a:defRPr>
            </a:pPr>
            <a:r>
              <a:rPr sz="825" b="0">
                <a:solidFill>
                  <a:srgbClr val="5E6B7A"/>
                </a:solidFill>
              </a:rPr>
              <a:t>ChartFactory + company style.yaml</a:t>
            </a:r>
          </a:p>
        </p:txBody>
      </p:sp>
      <p:sp>
        <p:nvSpPr>
          <p:cNvPr id="50" name="final-output">
            <a:extLst>
              <a:ext uri="{FF2B5EF4-FFF2-40B4-BE49-F238E27FC236}">
                <a16:creationId xmlns:a16="http://schemas.microsoft.com/office/drawing/2014/main" id="{94731F2D-C4A8-4683-A86B-A69963E80FB1}"/>
              </a:ext>
            </a:extLst>
          </p:cNvPr>
          <p:cNvSpPr>
            <a:spLocks noGrp="1"/>
          </p:cNvSpPr>
          <p:nvPr/>
        </p:nvSpPr>
        <p:spPr>
          <a:xfrm>
            <a:off x="9620250" y="3695700"/>
            <a:ext cx="1752600" cy="971550"/>
          </a:xfrm>
          <a:prstGeom prst="roundRect">
            <a:avLst>
              <a:gd name="adj" fmla="val 13725"/>
            </a:avLst>
          </a:prstGeom>
          <a:solidFill>
            <a:srgbClr val="F6F8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1" name="final-output-title">
            <a:extLst>
              <a:ext uri="{FF2B5EF4-FFF2-40B4-BE49-F238E27FC236}">
                <a16:creationId xmlns:a16="http://schemas.microsoft.com/office/drawing/2014/main" id="{96A3F76C-9C8D-496A-BEC0-AA23D84FD022}"/>
              </a:ext>
            </a:extLst>
          </p:cNvPr>
          <p:cNvSpPr>
            <a:spLocks noGrp="1"/>
          </p:cNvSpPr>
          <p:nvPr/>
        </p:nvSpPr>
        <p:spPr>
          <a:xfrm>
            <a:off x="9734550" y="3810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32238"/>
                </a:solidFill>
              </a:defRPr>
            </a:pPr>
            <a:r>
              <a:rPr sz="1275" b="1">
                <a:solidFill>
                  <a:srgbClr val="132238"/>
                </a:solidFill>
              </a:rPr>
              <a:t>User-facing output</a:t>
            </a:r>
          </a:p>
        </p:txBody>
      </p:sp>
      <p:sp>
        <p:nvSpPr>
          <p:cNvPr id="52" name="final-output-body">
            <a:extLst>
              <a:ext uri="{FF2B5EF4-FFF2-40B4-BE49-F238E27FC236}">
                <a16:creationId xmlns:a16="http://schemas.microsoft.com/office/drawing/2014/main" id="{5916BC4F-A466-4276-B205-E83C6C0EA3E1}"/>
              </a:ext>
            </a:extLst>
          </p:cNvPr>
          <p:cNvSpPr>
            <a:spLocks noGrp="1"/>
          </p:cNvSpPr>
          <p:nvPr/>
        </p:nvSpPr>
        <p:spPr>
          <a:xfrm>
            <a:off x="9753600" y="4076700"/>
            <a:ext cx="1485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0">
                <a:solidFill>
                  <a:srgbClr val="5E6B7A"/>
                </a:solidFill>
              </a:defRPr>
            </a:pPr>
            <a:r>
              <a:rPr sz="900" b="0">
                <a:solidFill>
                  <a:srgbClr val="5E6B7A"/>
                </a:solidFill>
              </a:rPr>
              <a:t>SQL + summary + data</a:t>
            </a:r>
          </a:p>
          <a:p>
            <a:pPr algn="ctr">
              <a:buNone/>
              <a:defRPr sz="900" b="0">
                <a:solidFill>
                  <a:srgbClr val="5E6B7A"/>
                </a:solidFill>
              </a:defRPr>
            </a:pPr>
            <a:r>
              <a:rPr sz="900" b="0">
                <a:solidFill>
                  <a:srgbClr val="5E6B7A"/>
                </a:solidFill>
              </a:rPr>
              <a:t>PNG chart + CSV</a:t>
            </a:r>
          </a:p>
        </p:txBody>
      </p:sp>
      <p:cxnSp>
        <p:nvCxnSpPr>
          <p:cNvPr id="706" name="直接箭头连接符 116"/>
          <p:cNvCxnSpPr>
            <a:stCxn id="13" idx="3"/>
            <a:endCxn id="19" idx="1"/>
          </p:cNvCxnSpPr>
          <p:nvPr/>
        </p:nvCxnSpPr>
        <p:spPr>
          <a:xfrm>
            <a:off x="2362200" y="2609850"/>
            <a:ext cx="590550" cy="171450"/>
          </a:xfrm>
          <a:prstGeom prst="straightConnector1">
            <a:avLst/>
          </a:prstGeom>
          <a:ln w="19050">
            <a:solidFill>
              <a:srgbClr val="1F77B4"/>
            </a:solidFill>
            <a:prstDash val="solid"/>
            <a:tailEnd type="arrow" w="sm" len="sm"/>
          </a:ln>
        </p:spPr>
      </p:cxnSp>
      <p:cxnSp>
        <p:nvCxnSpPr>
          <p:cNvPr id="707" name="直接箭头连接符 117"/>
          <p:cNvCxnSpPr>
            <a:stCxn id="16" idx="3"/>
            <a:endCxn id="19" idx="1"/>
          </p:cNvCxnSpPr>
          <p:nvPr/>
        </p:nvCxnSpPr>
        <p:spPr>
          <a:xfrm flipV="1">
            <a:off x="2362200" y="2781300"/>
            <a:ext cx="590550" cy="647700"/>
          </a:xfrm>
          <a:prstGeom prst="straightConnector1">
            <a:avLst/>
          </a:prstGeom>
          <a:ln w="19050">
            <a:solidFill>
              <a:srgbClr val="1F77B4"/>
            </a:solidFill>
            <a:prstDash val="solid"/>
            <a:tailEnd type="arrow" w="sm" len="sm"/>
          </a:ln>
        </p:spPr>
      </p:cxnSp>
      <p:cxnSp>
        <p:nvCxnSpPr>
          <p:cNvPr id="708" name="直接箭头连接符 118"/>
          <p:cNvCxnSpPr>
            <a:stCxn id="19" idx="3"/>
            <a:endCxn id="22" idx="1"/>
          </p:cNvCxnSpPr>
          <p:nvPr/>
        </p:nvCxnSpPr>
        <p:spPr>
          <a:xfrm flipV="1">
            <a:off x="5638800" y="2390775"/>
            <a:ext cx="647700" cy="390525"/>
          </a:xfrm>
          <a:prstGeom prst="straightConnector1">
            <a:avLst/>
          </a:prstGeom>
          <a:ln w="19050">
            <a:solidFill>
              <a:srgbClr val="FF7F0E"/>
            </a:solidFill>
            <a:prstDash val="solid"/>
            <a:tailEnd type="arrow" w="sm" len="sm"/>
          </a:ln>
        </p:spPr>
      </p:cxnSp>
      <p:cxnSp>
        <p:nvCxnSpPr>
          <p:cNvPr id="709" name="直接箭头连接符 119"/>
          <p:cNvCxnSpPr>
            <a:stCxn id="19" idx="3"/>
            <a:endCxn id="25" idx="1"/>
          </p:cNvCxnSpPr>
          <p:nvPr/>
        </p:nvCxnSpPr>
        <p:spPr>
          <a:xfrm>
            <a:off x="5638800" y="2781300"/>
            <a:ext cx="647700" cy="409575"/>
          </a:xfrm>
          <a:prstGeom prst="straightConnector1">
            <a:avLst/>
          </a:prstGeom>
          <a:ln w="19050">
            <a:solidFill>
              <a:srgbClr val="FF7F0E"/>
            </a:solidFill>
            <a:prstDash val="solid"/>
            <a:tailEnd type="arrow" w="sm" len="sm"/>
          </a:ln>
        </p:spPr>
      </p:cxnSp>
      <p:cxnSp>
        <p:nvCxnSpPr>
          <p:cNvPr id="710" name="直接箭头连接符 120"/>
          <p:cNvCxnSpPr>
            <a:stCxn id="19" idx="2"/>
            <a:endCxn id="32" idx="0"/>
          </p:cNvCxnSpPr>
          <p:nvPr/>
        </p:nvCxnSpPr>
        <p:spPr>
          <a:xfrm>
            <a:off x="4295775" y="3219450"/>
            <a:ext cx="0" cy="990600"/>
          </a:xfrm>
          <a:prstGeom prst="straightConnector1">
            <a:avLst/>
          </a:prstGeom>
          <a:ln w="19050">
            <a:solidFill>
              <a:srgbClr val="1F77B4"/>
            </a:solidFill>
            <a:prstDash val="solid"/>
            <a:tailEnd type="arrow" w="sm" len="sm"/>
          </a:ln>
        </p:spPr>
      </p:cxnSp>
      <p:cxnSp>
        <p:nvCxnSpPr>
          <p:cNvPr id="711" name="直接箭头连接符 121"/>
          <p:cNvCxnSpPr>
            <a:stCxn id="32" idx="3"/>
            <a:endCxn id="35" idx="1"/>
          </p:cNvCxnSpPr>
          <p:nvPr/>
        </p:nvCxnSpPr>
        <p:spPr>
          <a:xfrm>
            <a:off x="5638800" y="4619625"/>
            <a:ext cx="933450" cy="0"/>
          </a:xfrm>
          <a:prstGeom prst="straightConnector1">
            <a:avLst/>
          </a:prstGeom>
          <a:ln w="23813">
            <a:solidFill>
              <a:srgbClr val="FF7F0E"/>
            </a:solidFill>
            <a:prstDash val="solid"/>
            <a:tailEnd type="arrow" w="sm" len="sm"/>
          </a:ln>
        </p:spPr>
      </p:cxnSp>
      <p:cxnSp>
        <p:nvCxnSpPr>
          <p:cNvPr id="712" name="直接箭头连接符 122"/>
          <p:cNvCxnSpPr>
            <a:stCxn id="35" idx="3"/>
            <a:endCxn id="50" idx="1"/>
          </p:cNvCxnSpPr>
          <p:nvPr/>
        </p:nvCxnSpPr>
        <p:spPr>
          <a:xfrm flipV="1">
            <a:off x="9258300" y="4181475"/>
            <a:ext cx="361950" cy="438150"/>
          </a:xfrm>
          <a:prstGeom prst="straightConnector1">
            <a:avLst/>
          </a:prstGeom>
          <a:ln w="19050">
            <a:solidFill>
              <a:srgbClr val="1F77B4"/>
            </a:solidFill>
            <a:prstDash val="solid"/>
            <a:tailEnd type="arrow" w="sm" len="sm"/>
          </a:ln>
        </p:spPr>
      </p:cxnSp>
      <p:cxnSp>
        <p:nvCxnSpPr>
          <p:cNvPr id="713" name="直接箭头连接符 123"/>
          <p:cNvCxnSpPr>
            <a:stCxn id="38" idx="0"/>
            <a:endCxn id="32" idx="1"/>
          </p:cNvCxnSpPr>
          <p:nvPr/>
        </p:nvCxnSpPr>
        <p:spPr>
          <a:xfrm flipV="1">
            <a:off x="1647825" y="4619625"/>
            <a:ext cx="1304925" cy="981075"/>
          </a:xfrm>
          <a:prstGeom prst="straightConnector1">
            <a:avLst/>
          </a:prstGeom>
          <a:ln w="19050">
            <a:solidFill>
              <a:srgbClr val="D9E2EC"/>
            </a:solidFill>
            <a:prstDash val="solid"/>
            <a:tailEnd type="arrow" w="sm" len="sm"/>
          </a:ln>
        </p:spPr>
      </p:cxnSp>
      <p:cxnSp>
        <p:nvCxnSpPr>
          <p:cNvPr id="714" name="直接箭头连接符 124"/>
          <p:cNvCxnSpPr>
            <a:stCxn id="32" idx="2"/>
            <a:endCxn id="44" idx="0"/>
          </p:cNvCxnSpPr>
          <p:nvPr/>
        </p:nvCxnSpPr>
        <p:spPr>
          <a:xfrm>
            <a:off x="4295775" y="5029200"/>
            <a:ext cx="1590675" cy="571500"/>
          </a:xfrm>
          <a:prstGeom prst="straightConnector1">
            <a:avLst/>
          </a:prstGeom>
          <a:ln w="19050">
            <a:solidFill>
              <a:srgbClr val="D9E2EC"/>
            </a:solidFill>
            <a:prstDash val="solid"/>
            <a:tailEnd type="arrow" w="sm" len="sm"/>
          </a:ln>
        </p:spPr>
      </p:cxnSp>
      <p:cxnSp>
        <p:nvCxnSpPr>
          <p:cNvPr id="715" name="直接箭头连接符 125"/>
          <p:cNvCxnSpPr>
            <a:stCxn id="35" idx="2"/>
            <a:endCxn id="47" idx="0"/>
          </p:cNvCxnSpPr>
          <p:nvPr/>
        </p:nvCxnSpPr>
        <p:spPr>
          <a:xfrm>
            <a:off x="7915275" y="5029200"/>
            <a:ext cx="133350" cy="571500"/>
          </a:xfrm>
          <a:prstGeom prst="straightConnector1">
            <a:avLst/>
          </a:prstGeom>
          <a:ln w="19050">
            <a:solidFill>
              <a:srgbClr val="D9E2EC"/>
            </a:solidFill>
            <a:prstDash val="solid"/>
            <a:tailEnd type="arrow" w="sm" len="sm"/>
          </a:ln>
        </p:spPr>
      </p:cxnSp>
      <p:sp>
        <p:nvSpPr>
          <p:cNvPr id="63" name="handoff-object">
            <a:extLst>
              <a:ext uri="{FF2B5EF4-FFF2-40B4-BE49-F238E27FC236}">
                <a16:creationId xmlns:a16="http://schemas.microsoft.com/office/drawing/2014/main" id="{965CF7BC-F125-4521-A18E-AC9624E438AB}"/>
              </a:ext>
            </a:extLst>
          </p:cNvPr>
          <p:cNvSpPr>
            <a:spLocks noGrp="1"/>
          </p:cNvSpPr>
          <p:nvPr/>
        </p:nvSpPr>
        <p:spPr>
          <a:xfrm>
            <a:off x="5695950" y="4400550"/>
            <a:ext cx="838200" cy="342900"/>
          </a:xfrm>
          <a:prstGeom prst="roundRect">
            <a:avLst>
              <a:gd name="adj" fmla="val 33333"/>
            </a:avLst>
          </a:prstGeom>
          <a:solidFill>
            <a:srgbClr val="FFF4E8"/>
          </a:solidFill>
          <a:ln w="9525">
            <a:solidFill>
              <a:srgbClr val="FF7F0E"/>
            </a:solidFill>
            <a:prstDash val="solid"/>
          </a:ln>
        </p:spPr>
      </p:sp>
      <p:sp>
        <p:nvSpPr>
          <p:cNvPr id="64" name="handoff-label">
            <a:extLst>
              <a:ext uri="{FF2B5EF4-FFF2-40B4-BE49-F238E27FC236}">
                <a16:creationId xmlns:a16="http://schemas.microsoft.com/office/drawing/2014/main" id="{EFCD8F03-28C0-413E-AAE7-D0FB1934E86D}"/>
              </a:ext>
            </a:extLst>
          </p:cNvPr>
          <p:cNvSpPr>
            <a:spLocks noGrp="1"/>
          </p:cNvSpPr>
          <p:nvPr/>
        </p:nvSpPr>
        <p:spPr>
          <a:xfrm>
            <a:off x="5753100" y="443865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7F0E"/>
                </a:solidFill>
              </a:defRPr>
            </a:pPr>
            <a:r>
              <a:rPr sz="825" b="1">
                <a:solidFill>
                  <a:srgbClr val="FF7F0E"/>
                </a:solidFill>
              </a:rPr>
              <a:t>Analysis</a:t>
            </a:r>
          </a:p>
          <a:p>
            <a:pPr algn="ctr">
              <a:buNone/>
              <a:defRPr sz="825" b="1">
                <a:solidFill>
                  <a:srgbClr val="FF7F0E"/>
                </a:solidFill>
              </a:defRPr>
            </a:pPr>
            <a:r>
              <a:rPr sz="825" b="1">
                <a:solidFill>
                  <a:srgbClr val="FF7F0E"/>
                </a:solidFill>
              </a:rPr>
              <a:t>Result</a:t>
            </a:r>
          </a:p>
        </p:txBody>
      </p:sp>
      <p:cxnSp>
        <p:nvCxnSpPr>
          <p:cNvPr id="718" name="db-onboarding-to-registry"/>
          <p:cNvCxnSpPr>
            <a:stCxn id="41" idx="0"/>
            <a:endCxn id="25" idx="2"/>
          </p:cNvCxnSpPr>
          <p:nvPr/>
        </p:nvCxnSpPr>
        <p:spPr>
          <a:xfrm flipV="1">
            <a:off x="3724275" y="3486150"/>
            <a:ext cx="3467100" cy="2114550"/>
          </a:xfrm>
          <a:prstGeom prst="bentConnector4">
            <a:avLst>
              <a:gd name="adj1" fmla="val 0"/>
              <a:gd name="adj2" fmla="val 50000"/>
            </a:avLst>
          </a:prstGeom>
          <a:ln w="0" cap="rnd">
            <a:noFill/>
            <a:prstDash val="solid"/>
            <a:round/>
            <a:headEnd type="arrow" w="sm" len="sm"/>
          </a:ln>
        </p:spPr>
      </p:cxnSp>
      <p:cxnSp>
        <p:nvCxnSpPr>
          <p:cNvPr id="719" name="db-onboarding-to-registry-routed"/>
          <p:cNvCxnSpPr>
            <a:stCxn id="41" idx="1"/>
            <a:endCxn id="25" idx="2"/>
          </p:cNvCxnSpPr>
          <p:nvPr/>
        </p:nvCxnSpPr>
        <p:spPr>
          <a:xfrm flipV="1">
            <a:off x="2819400" y="3486150"/>
            <a:ext cx="4371975" cy="2438400"/>
          </a:xfrm>
          <a:prstGeom prst="bentConnector2">
            <a:avLst/>
          </a:prstGeom>
          <a:ln w="0" cap="rnd">
            <a:noFill/>
            <a:prstDash val="solid"/>
            <a:round/>
            <a:headEnd type="arrow" w="sm" len="sm"/>
          </a:ln>
        </p:spPr>
      </p:cxnSp>
      <p:sp>
        <p:nvSpPr>
          <p:cNvPr id="384" name="db-onboarding-config-line-left">
            <a:extLst>
              <a:ext uri="{FF2B5EF4-FFF2-40B4-BE49-F238E27FC236}">
                <a16:creationId xmlns:a16="http://schemas.microsoft.com/office/drawing/2014/main" id="{7AEDAE1F-2240-4C49-8D16-CC4AAD0AA3DC}"/>
              </a:ext>
            </a:extLst>
          </p:cNvPr>
          <p:cNvSpPr>
            <a:spLocks noGrp="1"/>
          </p:cNvSpPr>
          <p:nvPr/>
        </p:nvSpPr>
        <p:spPr>
          <a:xfrm>
            <a:off x="2724150" y="5924550"/>
            <a:ext cx="95250" cy="0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5" name="db-onboarding-config-line-up">
            <a:extLst>
              <a:ext uri="{FF2B5EF4-FFF2-40B4-BE49-F238E27FC236}">
                <a16:creationId xmlns:a16="http://schemas.microsoft.com/office/drawing/2014/main" id="{2D1E8A4B-77A9-47D0-9A4A-40DD49BA3E2E}"/>
              </a:ext>
            </a:extLst>
          </p:cNvPr>
          <p:cNvSpPr>
            <a:spLocks noGrp="1"/>
          </p:cNvSpPr>
          <p:nvPr/>
        </p:nvSpPr>
        <p:spPr>
          <a:xfrm>
            <a:off x="2724150" y="3562350"/>
            <a:ext cx="0" cy="2362200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6" name="db-onboarding-config-line-across">
            <a:extLst>
              <a:ext uri="{FF2B5EF4-FFF2-40B4-BE49-F238E27FC236}">
                <a16:creationId xmlns:a16="http://schemas.microsoft.com/office/drawing/2014/main" id="{2D27D158-DF4A-45DE-B519-55019BFC891C}"/>
              </a:ext>
            </a:extLst>
          </p:cNvPr>
          <p:cNvSpPr>
            <a:spLocks noGrp="1"/>
          </p:cNvSpPr>
          <p:nvPr/>
        </p:nvSpPr>
        <p:spPr>
          <a:xfrm>
            <a:off x="2724150" y="3562350"/>
            <a:ext cx="4467225" cy="0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7" name="db-onboarding-config-line-target">
            <a:extLst>
              <a:ext uri="{FF2B5EF4-FFF2-40B4-BE49-F238E27FC236}">
                <a16:creationId xmlns:a16="http://schemas.microsoft.com/office/drawing/2014/main" id="{1B50F7BC-7603-4538-9AA7-EF7CE89682D0}"/>
              </a:ext>
            </a:extLst>
          </p:cNvPr>
          <p:cNvSpPr>
            <a:spLocks noGrp="1"/>
          </p:cNvSpPr>
          <p:nvPr/>
        </p:nvSpPr>
        <p:spPr>
          <a:xfrm>
            <a:off x="7191375" y="3486150"/>
            <a:ext cx="0" cy="76200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8" name="db-onboarding-config-arrow">
            <a:extLst>
              <a:ext uri="{FF2B5EF4-FFF2-40B4-BE49-F238E27FC236}">
                <a16:creationId xmlns:a16="http://schemas.microsoft.com/office/drawing/2014/main" id="{6976FE11-B1EB-4E54-A54F-62A1FEB07123}"/>
              </a:ext>
            </a:extLst>
          </p:cNvPr>
          <p:cNvSpPr>
            <a:spLocks noGrp="1"/>
          </p:cNvSpPr>
          <p:nvPr/>
        </p:nvSpPr>
        <p:spPr>
          <a:xfrm>
            <a:off x="7143750" y="3448050"/>
            <a:ext cx="95250" cy="95250"/>
          </a:xfrm>
          <a:prstGeom prst="triangl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1" name="db-onboarding-config-arrow-visible">
            <a:extLst>
              <a:ext uri="{FF2B5EF4-FFF2-40B4-BE49-F238E27FC236}">
                <a16:creationId xmlns:a16="http://schemas.microsoft.com/office/drawing/2014/main" id="{23492FAB-510D-405A-B0B1-E0A4A4827EF1}"/>
              </a:ext>
            </a:extLst>
          </p:cNvPr>
          <p:cNvSpPr>
            <a:spLocks noGrp="1"/>
          </p:cNvSpPr>
          <p:nvPr/>
        </p:nvSpPr>
        <p:spPr>
          <a:xfrm>
            <a:off x="7143750" y="3486150"/>
            <a:ext cx="95250" cy="114300"/>
          </a:xfrm>
          <a:prstGeom prst="up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41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>
            <a:extLst>
              <a:ext uri="{FF2B5EF4-FFF2-40B4-BE49-F238E27FC236}">
                <a16:creationId xmlns:a16="http://schemas.microsoft.com/office/drawing/2014/main" id="{BB63BE88-BC3B-4378-BFC1-D644817CAA9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1F77B4"/>
                </a:solidFill>
              </a:defRPr>
            </a:pPr>
            <a:r>
              <a:rPr sz="975" b="1">
                <a:solidFill>
                  <a:srgbClr val="1F77B4"/>
                </a:solidFill>
              </a:rPr>
              <a:t>AI TALENT LAB CASE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B5389BD-32E3-47A0-B79F-59A9ECEFA121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132238"/>
                </a:solidFill>
              </a:defRPr>
            </a:pPr>
            <a:r>
              <a:rPr sz="2850" b="1">
                <a:solidFill>
                  <a:srgbClr val="132238"/>
                </a:solidFill>
              </a:rPr>
              <a:t>Design choices show production thinking</a:t>
            </a:r>
          </a:p>
        </p:txBody>
      </p:sp>
      <p:sp>
        <p:nvSpPr>
          <p:cNvPr id="3" name="header-rule">
            <a:extLst>
              <a:ext uri="{FF2B5EF4-FFF2-40B4-BE49-F238E27FC236}">
                <a16:creationId xmlns:a16="http://schemas.microsoft.com/office/drawing/2014/main" id="{332B2176-83F1-49DA-981F-2AC7877E9185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footer-3">
            <a:extLst>
              <a:ext uri="{FF2B5EF4-FFF2-40B4-BE49-F238E27FC236}">
                <a16:creationId xmlns:a16="http://schemas.microsoft.com/office/drawing/2014/main" id="{71AEB2F8-65D0-412A-A261-7984B8A2E65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7A8695"/>
                </a:solidFill>
              </a:defRPr>
            </a:pPr>
            <a:r>
              <a:rPr sz="900" b="0">
                <a:solidFill>
                  <a:srgbClr val="7A8695"/>
                </a:solidFill>
              </a:rPr>
              <a:t>Autonomous AI Agents Case  |  3/4</a:t>
            </a:r>
          </a:p>
        </p:txBody>
      </p:sp>
      <p:sp>
        <p:nvSpPr>
          <p:cNvPr id="5" name="accent-System design">
            <a:extLst>
              <a:ext uri="{FF2B5EF4-FFF2-40B4-BE49-F238E27FC236}">
                <a16:creationId xmlns:a16="http://schemas.microsoft.com/office/drawing/2014/main" id="{617F587F-DA4B-4479-A6B5-6417BCE4AB2D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47625" cy="323850"/>
          </a:xfrm>
          <a:prstGeom prst="rect">
            <a:avLst/>
          </a:prstGeom>
          <a:solidFill>
            <a:srgbClr val="1F77B4"/>
          </a:solidFill>
          <a:ln w="0">
            <a:solidFill>
              <a:srgbClr val="1F77B4"/>
            </a:solidFill>
            <a:prstDash val="solid"/>
          </a:ln>
        </p:spPr>
      </p:sp>
      <p:sp>
        <p:nvSpPr>
          <p:cNvPr id="6" name="label-System design">
            <a:extLst>
              <a:ext uri="{FF2B5EF4-FFF2-40B4-BE49-F238E27FC236}">
                <a16:creationId xmlns:a16="http://schemas.microsoft.com/office/drawing/2014/main" id="{B48165BB-E9BE-4065-9C1B-58140A658790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System design</a:t>
            </a:r>
          </a:p>
        </p:txBody>
      </p:sp>
      <p:sp>
        <p:nvSpPr>
          <p:cNvPr id="7" name="left-body-0">
            <a:extLst>
              <a:ext uri="{FF2B5EF4-FFF2-40B4-BE49-F238E27FC236}">
                <a16:creationId xmlns:a16="http://schemas.microsoft.com/office/drawing/2014/main" id="{E1F96A63-2A06-49DD-89EA-AE8CF61AD3FE}"/>
              </a:ext>
            </a:extLst>
          </p:cNvPr>
          <p:cNvSpPr>
            <a:spLocks noGrp="1"/>
          </p:cNvSpPr>
          <p:nvPr/>
        </p:nvSpPr>
        <p:spPr>
          <a:xfrm>
            <a:off x="1066800" y="249555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Separate agents with a shared orchestrator.</a:t>
            </a:r>
          </a:p>
        </p:txBody>
      </p:sp>
      <p:sp>
        <p:nvSpPr>
          <p:cNvPr id="8" name="accent-Safety mindset">
            <a:extLst>
              <a:ext uri="{FF2B5EF4-FFF2-40B4-BE49-F238E27FC236}">
                <a16:creationId xmlns:a16="http://schemas.microsoft.com/office/drawing/2014/main" id="{8614D5F6-DCBA-4B3D-BFBA-C69B04CF2DAA}"/>
              </a:ext>
            </a:extLst>
          </p:cNvPr>
          <p:cNvSpPr>
            <a:spLocks noGrp="1"/>
          </p:cNvSpPr>
          <p:nvPr/>
        </p:nvSpPr>
        <p:spPr>
          <a:xfrm>
            <a:off x="914400" y="3238500"/>
            <a:ext cx="47625" cy="323850"/>
          </a:xfrm>
          <a:prstGeom prst="rect">
            <a:avLst/>
          </a:prstGeom>
          <a:solidFill>
            <a:srgbClr val="1F77B4"/>
          </a:solidFill>
          <a:ln w="0">
            <a:solidFill>
              <a:srgbClr val="1F77B4"/>
            </a:solidFill>
            <a:prstDash val="solid"/>
          </a:ln>
        </p:spPr>
      </p:sp>
      <p:sp>
        <p:nvSpPr>
          <p:cNvPr id="9" name="label-Safety mindset">
            <a:extLst>
              <a:ext uri="{FF2B5EF4-FFF2-40B4-BE49-F238E27FC236}">
                <a16:creationId xmlns:a16="http://schemas.microsoft.com/office/drawing/2014/main" id="{4F96D0BD-295F-492E-ACEE-0E568FBED7F5}"/>
              </a:ext>
            </a:extLst>
          </p:cNvPr>
          <p:cNvSpPr>
            <a:spLocks noGrp="1"/>
          </p:cNvSpPr>
          <p:nvPr/>
        </p:nvSpPr>
        <p:spPr>
          <a:xfrm>
            <a:off x="1066800" y="32004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Safety mindset</a:t>
            </a:r>
          </a:p>
        </p:txBody>
      </p:sp>
      <p:sp>
        <p:nvSpPr>
          <p:cNvPr id="10" name="left-body-1">
            <a:extLst>
              <a:ext uri="{FF2B5EF4-FFF2-40B4-BE49-F238E27FC236}">
                <a16:creationId xmlns:a16="http://schemas.microsoft.com/office/drawing/2014/main" id="{F88BEF7E-863A-4138-98A8-52DFD8A9CE61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SQL guard, row limit, read-only SQLite.</a:t>
            </a:r>
          </a:p>
        </p:txBody>
      </p:sp>
      <p:sp>
        <p:nvSpPr>
          <p:cNvPr id="11" name="accent-Easy integration">
            <a:extLst>
              <a:ext uri="{FF2B5EF4-FFF2-40B4-BE49-F238E27FC236}">
                <a16:creationId xmlns:a16="http://schemas.microsoft.com/office/drawing/2014/main" id="{FCAD2110-807A-4997-AD00-23130322FEC1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47625" cy="323850"/>
          </a:xfrm>
          <a:prstGeom prst="rect">
            <a:avLst/>
          </a:prstGeom>
          <a:solidFill>
            <a:srgbClr val="FF7F0E"/>
          </a:solidFill>
          <a:ln w="0">
            <a:solidFill>
              <a:srgbClr val="FF7F0E"/>
            </a:solidFill>
            <a:prstDash val="solid"/>
          </a:ln>
        </p:spPr>
      </p:sp>
      <p:sp>
        <p:nvSpPr>
          <p:cNvPr id="12" name="label-Easy integration">
            <a:extLst>
              <a:ext uri="{FF2B5EF4-FFF2-40B4-BE49-F238E27FC236}">
                <a16:creationId xmlns:a16="http://schemas.microsoft.com/office/drawing/2014/main" id="{8197D948-4460-419F-BA46-1CABE141CB54}"/>
              </a:ext>
            </a:extLst>
          </p:cNvPr>
          <p:cNvSpPr>
            <a:spLocks noGrp="1"/>
          </p:cNvSpPr>
          <p:nvPr/>
        </p:nvSpPr>
        <p:spPr>
          <a:xfrm>
            <a:off x="1066800" y="43243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Easy integration</a:t>
            </a:r>
          </a:p>
        </p:txBody>
      </p:sp>
      <p:sp>
        <p:nvSpPr>
          <p:cNvPr id="13" name="left-body-2">
            <a:extLst>
              <a:ext uri="{FF2B5EF4-FFF2-40B4-BE49-F238E27FC236}">
                <a16:creationId xmlns:a16="http://schemas.microsoft.com/office/drawing/2014/main" id="{EA960B99-7FD1-4574-B463-3E9508765767}"/>
              </a:ext>
            </a:extLst>
          </p:cNvPr>
          <p:cNvSpPr>
            <a:spLocks noGrp="1"/>
          </p:cNvSpPr>
          <p:nvPr/>
        </p:nvSpPr>
        <p:spPr>
          <a:xfrm>
            <a:off x="1066800" y="474345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Add databases via admin UI, CLI, or YAML.</a:t>
            </a:r>
          </a:p>
        </p:txBody>
      </p:sp>
      <p:sp>
        <p:nvSpPr>
          <p:cNvPr id="14" name="accent-Product control">
            <a:extLst>
              <a:ext uri="{FF2B5EF4-FFF2-40B4-BE49-F238E27FC236}">
                <a16:creationId xmlns:a16="http://schemas.microsoft.com/office/drawing/2014/main" id="{3D1459CD-8AA8-42AF-8186-A5E5F9C5AA0D}"/>
              </a:ext>
            </a:extLst>
          </p:cNvPr>
          <p:cNvSpPr>
            <a:spLocks noGrp="1"/>
          </p:cNvSpPr>
          <p:nvPr/>
        </p:nvSpPr>
        <p:spPr>
          <a:xfrm>
            <a:off x="6572250" y="2400300"/>
            <a:ext cx="47625" cy="323850"/>
          </a:xfrm>
          <a:prstGeom prst="rect">
            <a:avLst/>
          </a:prstGeom>
          <a:solidFill>
            <a:srgbClr val="FF7F0E"/>
          </a:solidFill>
          <a:ln w="0">
            <a:solidFill>
              <a:srgbClr val="FF7F0E"/>
            </a:solidFill>
            <a:prstDash val="solid"/>
          </a:ln>
        </p:spPr>
      </p:sp>
      <p:sp>
        <p:nvSpPr>
          <p:cNvPr id="15" name="label-Product control">
            <a:extLst>
              <a:ext uri="{FF2B5EF4-FFF2-40B4-BE49-F238E27FC236}">
                <a16:creationId xmlns:a16="http://schemas.microsoft.com/office/drawing/2014/main" id="{371CF032-0225-4E7F-90D7-087792364D4F}"/>
              </a:ext>
            </a:extLst>
          </p:cNvPr>
          <p:cNvSpPr>
            <a:spLocks noGrp="1"/>
          </p:cNvSpPr>
          <p:nvPr/>
        </p:nvSpPr>
        <p:spPr>
          <a:xfrm>
            <a:off x="6724650" y="23622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Product control</a:t>
            </a:r>
          </a:p>
        </p:txBody>
      </p:sp>
      <p:sp>
        <p:nvSpPr>
          <p:cNvPr id="16" name="right-body-0">
            <a:extLst>
              <a:ext uri="{FF2B5EF4-FFF2-40B4-BE49-F238E27FC236}">
                <a16:creationId xmlns:a16="http://schemas.microsoft.com/office/drawing/2014/main" id="{25BB3FF2-8845-4B71-8809-561361C80CB0}"/>
              </a:ext>
            </a:extLst>
          </p:cNvPr>
          <p:cNvSpPr>
            <a:spLocks noGrp="1"/>
          </p:cNvSpPr>
          <p:nvPr/>
        </p:nvSpPr>
        <p:spPr>
          <a:xfrm>
            <a:off x="6724650" y="278130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Online/offline mode, chart type, row limit, preview size.</a:t>
            </a:r>
          </a:p>
        </p:txBody>
      </p:sp>
      <p:sp>
        <p:nvSpPr>
          <p:cNvPr id="17" name="accent-Evaluation disci">
            <a:extLst>
              <a:ext uri="{FF2B5EF4-FFF2-40B4-BE49-F238E27FC236}">
                <a16:creationId xmlns:a16="http://schemas.microsoft.com/office/drawing/2014/main" id="{B4057BE2-3D5A-4648-A3D3-00613617F8A8}"/>
              </a:ext>
            </a:extLst>
          </p:cNvPr>
          <p:cNvSpPr>
            <a:spLocks noGrp="1"/>
          </p:cNvSpPr>
          <p:nvPr/>
        </p:nvSpPr>
        <p:spPr>
          <a:xfrm>
            <a:off x="6572250" y="3714750"/>
            <a:ext cx="47625" cy="323850"/>
          </a:xfrm>
          <a:prstGeom prst="rect">
            <a:avLst/>
          </a:prstGeom>
          <a:solidFill>
            <a:srgbClr val="1F77B4"/>
          </a:solidFill>
          <a:ln w="0">
            <a:solidFill>
              <a:srgbClr val="1F77B4"/>
            </a:solidFill>
            <a:prstDash val="solid"/>
          </a:ln>
        </p:spPr>
      </p:sp>
      <p:sp>
        <p:nvSpPr>
          <p:cNvPr id="18" name="label-Evaluation disci">
            <a:extLst>
              <a:ext uri="{FF2B5EF4-FFF2-40B4-BE49-F238E27FC236}">
                <a16:creationId xmlns:a16="http://schemas.microsoft.com/office/drawing/2014/main" id="{1DEEFA27-547A-4D29-8200-8ABD87A5E8CD}"/>
              </a:ext>
            </a:extLst>
          </p:cNvPr>
          <p:cNvSpPr>
            <a:spLocks noGrp="1"/>
          </p:cNvSpPr>
          <p:nvPr/>
        </p:nvSpPr>
        <p:spPr>
          <a:xfrm>
            <a:off x="6724650" y="36766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Evaluation discipline</a:t>
            </a:r>
          </a:p>
        </p:txBody>
      </p:sp>
      <p:sp>
        <p:nvSpPr>
          <p:cNvPr id="19" name="right-body-1">
            <a:extLst>
              <a:ext uri="{FF2B5EF4-FFF2-40B4-BE49-F238E27FC236}">
                <a16:creationId xmlns:a16="http://schemas.microsoft.com/office/drawing/2014/main" id="{1E7E48E7-754F-404B-8D00-9B573F6178A6}"/>
              </a:ext>
            </a:extLst>
          </p:cNvPr>
          <p:cNvSpPr>
            <a:spLocks noGrp="1"/>
          </p:cNvSpPr>
          <p:nvPr/>
        </p:nvSpPr>
        <p:spPr>
          <a:xfrm>
            <a:off x="6724650" y="409575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Automated tests cover safety, access, agents, and pipeline.</a:t>
            </a:r>
          </a:p>
        </p:txBody>
      </p:sp>
      <p:sp>
        <p:nvSpPr>
          <p:cNvPr id="20" name="mid-rule">
            <a:extLst>
              <a:ext uri="{FF2B5EF4-FFF2-40B4-BE49-F238E27FC236}">
                <a16:creationId xmlns:a16="http://schemas.microsoft.com/office/drawing/2014/main" id="{8E74EFAD-FBDA-4BC8-BCF6-AD2B9A3100BC}"/>
              </a:ext>
            </a:extLst>
          </p:cNvPr>
          <p:cNvSpPr>
            <a:spLocks noGrp="1"/>
          </p:cNvSpPr>
          <p:nvPr/>
        </p:nvSpPr>
        <p:spPr>
          <a:xfrm>
            <a:off x="5962650" y="2057400"/>
            <a:ext cx="0" cy="321945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661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kicker">
            <a:extLst>
              <a:ext uri="{FF2B5EF4-FFF2-40B4-BE49-F238E27FC236}">
                <a16:creationId xmlns:a16="http://schemas.microsoft.com/office/drawing/2014/main" id="{46C7E236-16BD-4314-B9DF-605D6F71D9C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1F77B4"/>
                </a:solidFill>
              </a:defRPr>
            </a:pPr>
            <a:r>
              <a:rPr sz="975" b="1">
                <a:solidFill>
                  <a:srgbClr val="1F77B4"/>
                </a:solidFill>
              </a:rPr>
              <a:t>AI TALENT LAB CASE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8B89424-BFC3-4B1F-BFF1-DEA0F431D17E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132238"/>
                </a:solidFill>
              </a:defRPr>
            </a:pPr>
            <a:r>
              <a:rPr sz="2850" b="1">
                <a:solidFill>
                  <a:srgbClr val="132238"/>
                </a:solidFill>
              </a:rPr>
              <a:t>Evaluation and next steps</a:t>
            </a:r>
          </a:p>
        </p:txBody>
      </p:sp>
      <p:sp>
        <p:nvSpPr>
          <p:cNvPr id="3" name="header-rule">
            <a:extLst>
              <a:ext uri="{FF2B5EF4-FFF2-40B4-BE49-F238E27FC236}">
                <a16:creationId xmlns:a16="http://schemas.microsoft.com/office/drawing/2014/main" id="{2D77D10E-48A7-415B-BA45-53466B05BED8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footer-5">
            <a:extLst>
              <a:ext uri="{FF2B5EF4-FFF2-40B4-BE49-F238E27FC236}">
                <a16:creationId xmlns:a16="http://schemas.microsoft.com/office/drawing/2014/main" id="{ACBD6796-F9F0-47F8-B7A5-F5F7B6D0A75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7A8695"/>
                </a:solidFill>
              </a:defRPr>
            </a:pPr>
            <a:r>
              <a:rPr sz="900" b="0">
                <a:solidFill>
                  <a:srgbClr val="7A8695"/>
                </a:solidFill>
              </a:rPr>
              <a:t>Autonomous AI Agents Case  |  4/4</a:t>
            </a:r>
          </a:p>
        </p:txBody>
      </p:sp>
      <p:sp>
        <p:nvSpPr>
          <p:cNvPr id="5" name="tests-number">
            <a:extLst>
              <a:ext uri="{FF2B5EF4-FFF2-40B4-BE49-F238E27FC236}">
                <a16:creationId xmlns:a16="http://schemas.microsoft.com/office/drawing/2014/main" id="{0509A4D8-11B5-41FD-9B22-2306B41B9E1C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200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5700" b="1">
                <a:solidFill>
                  <a:srgbClr val="1F77B4"/>
                </a:solidFill>
              </a:defRPr>
            </a:pPr>
            <a:r>
              <a:rPr sz="5700" b="1">
                <a:solidFill>
                  <a:srgbClr val="1F77B4"/>
                </a:solidFill>
              </a:rPr>
              <a:t>24</a:t>
            </a:r>
          </a:p>
        </p:txBody>
      </p:sp>
      <p:sp>
        <p:nvSpPr>
          <p:cNvPr id="6" name="tests-label">
            <a:extLst>
              <a:ext uri="{FF2B5EF4-FFF2-40B4-BE49-F238E27FC236}">
                <a16:creationId xmlns:a16="http://schemas.microsoft.com/office/drawing/2014/main" id="{3345D74B-B422-4BB7-94A4-0270E99B60AE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pytest tests passing</a:t>
            </a:r>
          </a:p>
        </p:txBody>
      </p:sp>
      <p:sp>
        <p:nvSpPr>
          <p:cNvPr id="7" name="metric-pass-rate">
            <a:extLst>
              <a:ext uri="{FF2B5EF4-FFF2-40B4-BE49-F238E27FC236}">
                <a16:creationId xmlns:a16="http://schemas.microsoft.com/office/drawing/2014/main" id="{3D073007-05FA-4580-8DBA-D0E5A5B9A79A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790700" cy="723900"/>
          </a:xfrm>
          <a:prstGeom prst="roundRect">
            <a:avLst>
              <a:gd name="adj" fmla="val 18421"/>
            </a:avLst>
          </a:prstGeom>
          <a:solidFill>
            <a:srgbClr val="F6F8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metric-pass-rate-value">
            <a:extLst>
              <a:ext uri="{FF2B5EF4-FFF2-40B4-BE49-F238E27FC236}">
                <a16:creationId xmlns:a16="http://schemas.microsoft.com/office/drawing/2014/main" id="{66137418-FF1A-4F7C-97A5-DC3387CF3E6E}"/>
              </a:ext>
            </a:extLst>
          </p:cNvPr>
          <p:cNvSpPr>
            <a:spLocks noGrp="1"/>
          </p:cNvSpPr>
          <p:nvPr/>
        </p:nvSpPr>
        <p:spPr>
          <a:xfrm>
            <a:off x="933450" y="3867150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FF7F0E"/>
                </a:solidFill>
              </a:defRPr>
            </a:pPr>
            <a:r>
              <a:rPr sz="1950" b="1">
                <a:solidFill>
                  <a:srgbClr val="FF7F0E"/>
                </a:solidFill>
              </a:rPr>
              <a:t>100%</a:t>
            </a:r>
          </a:p>
        </p:txBody>
      </p:sp>
      <p:sp>
        <p:nvSpPr>
          <p:cNvPr id="9" name="metric-pass-rate-label">
            <a:extLst>
              <a:ext uri="{FF2B5EF4-FFF2-40B4-BE49-F238E27FC236}">
                <a16:creationId xmlns:a16="http://schemas.microsoft.com/office/drawing/2014/main" id="{2524820A-21D4-4988-BA53-8FB024128F4F}"/>
              </a:ext>
            </a:extLst>
          </p:cNvPr>
          <p:cNvSpPr>
            <a:spLocks noGrp="1"/>
          </p:cNvSpPr>
          <p:nvPr/>
        </p:nvSpPr>
        <p:spPr>
          <a:xfrm>
            <a:off x="952500" y="4171950"/>
            <a:ext cx="144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5E6B7A"/>
                </a:solidFill>
              </a:defRPr>
            </a:pPr>
            <a:r>
              <a:rPr sz="975" b="0" dirty="0">
                <a:solidFill>
                  <a:srgbClr val="5E6B7A"/>
                </a:solidFill>
              </a:rPr>
              <a:t>pass rate</a:t>
            </a:r>
          </a:p>
        </p:txBody>
      </p:sp>
      <p:sp>
        <p:nvSpPr>
          <p:cNvPr id="13" name="accent-What I tested">
            <a:extLst>
              <a:ext uri="{FF2B5EF4-FFF2-40B4-BE49-F238E27FC236}">
                <a16:creationId xmlns:a16="http://schemas.microsoft.com/office/drawing/2014/main" id="{FA96CAB4-A819-46A6-95C9-FA93C073B356}"/>
              </a:ext>
            </a:extLst>
          </p:cNvPr>
          <p:cNvSpPr>
            <a:spLocks noGrp="1"/>
          </p:cNvSpPr>
          <p:nvPr/>
        </p:nvSpPr>
        <p:spPr>
          <a:xfrm>
            <a:off x="3333750" y="2133600"/>
            <a:ext cx="47625" cy="323850"/>
          </a:xfrm>
          <a:prstGeom prst="rect">
            <a:avLst/>
          </a:prstGeom>
          <a:solidFill>
            <a:srgbClr val="1F77B4"/>
          </a:solidFill>
          <a:ln w="0">
            <a:solidFill>
              <a:srgbClr val="1F77B4"/>
            </a:solidFill>
            <a:prstDash val="solid"/>
          </a:ln>
        </p:spPr>
      </p:sp>
      <p:sp>
        <p:nvSpPr>
          <p:cNvPr id="14" name="label-What I tested">
            <a:extLst>
              <a:ext uri="{FF2B5EF4-FFF2-40B4-BE49-F238E27FC236}">
                <a16:creationId xmlns:a16="http://schemas.microsoft.com/office/drawing/2014/main" id="{AB87CEC1-D3A6-4540-91F1-36E4B0D6947E}"/>
              </a:ext>
            </a:extLst>
          </p:cNvPr>
          <p:cNvSpPr>
            <a:spLocks noGrp="1"/>
          </p:cNvSpPr>
          <p:nvPr/>
        </p:nvSpPr>
        <p:spPr>
          <a:xfrm>
            <a:off x="3486150" y="20955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What I tested</a:t>
            </a:r>
          </a:p>
        </p:txBody>
      </p:sp>
      <p:sp>
        <p:nvSpPr>
          <p:cNvPr id="15" name="test-dot-0">
            <a:extLst>
              <a:ext uri="{FF2B5EF4-FFF2-40B4-BE49-F238E27FC236}">
                <a16:creationId xmlns:a16="http://schemas.microsoft.com/office/drawing/2014/main" id="{DF3398C1-A1B2-4424-8F06-8A0F622F926D}"/>
              </a:ext>
            </a:extLst>
          </p:cNvPr>
          <p:cNvSpPr>
            <a:spLocks noGrp="1"/>
          </p:cNvSpPr>
          <p:nvPr/>
        </p:nvSpPr>
        <p:spPr>
          <a:xfrm>
            <a:off x="3371850" y="2724150"/>
            <a:ext cx="76200" cy="76200"/>
          </a:xfrm>
          <a:prstGeom prst="ellipse">
            <a:avLst/>
          </a:prstGeom>
          <a:solidFill>
            <a:srgbClr val="1F77B4"/>
          </a:solidFill>
          <a:ln w="0">
            <a:noFill/>
            <a:prstDash val="solid"/>
          </a:ln>
        </p:spPr>
      </p:sp>
      <p:sp>
        <p:nvSpPr>
          <p:cNvPr id="16" name="tested-0">
            <a:extLst>
              <a:ext uri="{FF2B5EF4-FFF2-40B4-BE49-F238E27FC236}">
                <a16:creationId xmlns:a16="http://schemas.microsoft.com/office/drawing/2014/main" id="{450EF822-57E1-4316-9011-6AB57A3D5D23}"/>
              </a:ext>
            </a:extLst>
          </p:cNvPr>
          <p:cNvSpPr>
            <a:spLocks noGrp="1"/>
          </p:cNvSpPr>
          <p:nvPr/>
        </p:nvSpPr>
        <p:spPr>
          <a:xfrm>
            <a:off x="3581400" y="262890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32238"/>
                </a:solidFill>
              </a:defRPr>
            </a:pPr>
            <a:r>
              <a:rPr sz="1275" b="1" u="sng" dirty="0">
                <a:solidFill>
                  <a:srgbClr val="132238"/>
                </a:solidFill>
              </a:rPr>
              <a:t>User access</a:t>
            </a:r>
            <a:r>
              <a:rPr sz="1275" b="1" dirty="0">
                <a:solidFill>
                  <a:srgbClr val="132238"/>
                </a:solidFill>
              </a:rPr>
              <a:t>: allowed, blocked, created, updated</a:t>
            </a:r>
          </a:p>
        </p:txBody>
      </p:sp>
      <p:sp>
        <p:nvSpPr>
          <p:cNvPr id="17" name="test-dot-1">
            <a:extLst>
              <a:ext uri="{FF2B5EF4-FFF2-40B4-BE49-F238E27FC236}">
                <a16:creationId xmlns:a16="http://schemas.microsoft.com/office/drawing/2014/main" id="{C4225290-F3B8-4F23-8087-CECACBAA5769}"/>
              </a:ext>
            </a:extLst>
          </p:cNvPr>
          <p:cNvSpPr>
            <a:spLocks noGrp="1"/>
          </p:cNvSpPr>
          <p:nvPr/>
        </p:nvSpPr>
        <p:spPr>
          <a:xfrm>
            <a:off x="3371850" y="3105150"/>
            <a:ext cx="76200" cy="76200"/>
          </a:xfrm>
          <a:prstGeom prst="ellipse">
            <a:avLst/>
          </a:prstGeom>
          <a:solidFill>
            <a:srgbClr val="1F77B4"/>
          </a:solidFill>
          <a:ln w="0">
            <a:noFill/>
            <a:prstDash val="solid"/>
          </a:ln>
        </p:spPr>
      </p:sp>
      <p:sp>
        <p:nvSpPr>
          <p:cNvPr id="18" name="tested-1">
            <a:extLst>
              <a:ext uri="{FF2B5EF4-FFF2-40B4-BE49-F238E27FC236}">
                <a16:creationId xmlns:a16="http://schemas.microsoft.com/office/drawing/2014/main" id="{7C2D4735-2BD5-4D24-A482-EF4AB1455679}"/>
              </a:ext>
            </a:extLst>
          </p:cNvPr>
          <p:cNvSpPr>
            <a:spLocks noGrp="1"/>
          </p:cNvSpPr>
          <p:nvPr/>
        </p:nvSpPr>
        <p:spPr>
          <a:xfrm>
            <a:off x="3581400" y="300990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32238"/>
                </a:solidFill>
              </a:defRPr>
            </a:pPr>
            <a:r>
              <a:rPr sz="1275" b="1" u="sng" dirty="0">
                <a:solidFill>
                  <a:srgbClr val="132238"/>
                </a:solidFill>
              </a:rPr>
              <a:t>Easy integration</a:t>
            </a:r>
            <a:r>
              <a:rPr sz="1275" b="1" dirty="0">
                <a:solidFill>
                  <a:srgbClr val="132238"/>
                </a:solidFill>
              </a:rPr>
              <a:t>: add DB, validate SQLite, grant users</a:t>
            </a:r>
          </a:p>
        </p:txBody>
      </p:sp>
      <p:sp>
        <p:nvSpPr>
          <p:cNvPr id="19" name="test-dot-2">
            <a:extLst>
              <a:ext uri="{FF2B5EF4-FFF2-40B4-BE49-F238E27FC236}">
                <a16:creationId xmlns:a16="http://schemas.microsoft.com/office/drawing/2014/main" id="{43C1EC1B-9938-4C4E-98CF-B8E3965EB4C8}"/>
              </a:ext>
            </a:extLst>
          </p:cNvPr>
          <p:cNvSpPr>
            <a:spLocks noGrp="1"/>
          </p:cNvSpPr>
          <p:nvPr/>
        </p:nvSpPr>
        <p:spPr>
          <a:xfrm>
            <a:off x="3371850" y="3486150"/>
            <a:ext cx="76200" cy="76200"/>
          </a:xfrm>
          <a:prstGeom prst="ellipse">
            <a:avLst/>
          </a:prstGeom>
          <a:solidFill>
            <a:srgbClr val="1F77B4"/>
          </a:solidFill>
          <a:ln w="0">
            <a:noFill/>
            <a:prstDash val="solid"/>
          </a:ln>
        </p:spPr>
      </p:sp>
      <p:sp>
        <p:nvSpPr>
          <p:cNvPr id="20" name="tested-2">
            <a:extLst>
              <a:ext uri="{FF2B5EF4-FFF2-40B4-BE49-F238E27FC236}">
                <a16:creationId xmlns:a16="http://schemas.microsoft.com/office/drawing/2014/main" id="{1D027AF4-3352-4144-80EC-111E67A398D0}"/>
              </a:ext>
            </a:extLst>
          </p:cNvPr>
          <p:cNvSpPr>
            <a:spLocks noGrp="1"/>
          </p:cNvSpPr>
          <p:nvPr/>
        </p:nvSpPr>
        <p:spPr>
          <a:xfrm>
            <a:off x="3581400" y="339090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32238"/>
                </a:solidFill>
              </a:defRPr>
            </a:pPr>
            <a:r>
              <a:rPr sz="1275" b="1" u="sng" dirty="0">
                <a:solidFill>
                  <a:srgbClr val="132238"/>
                </a:solidFill>
              </a:rPr>
              <a:t>Database layer</a:t>
            </a:r>
            <a:r>
              <a:rPr sz="1275" b="1" dirty="0">
                <a:solidFill>
                  <a:srgbClr val="132238"/>
                </a:solidFill>
              </a:rPr>
              <a:t>: registry lookup, schema read, read-only query</a:t>
            </a:r>
          </a:p>
        </p:txBody>
      </p:sp>
      <p:sp>
        <p:nvSpPr>
          <p:cNvPr id="21" name="test-dot-3">
            <a:extLst>
              <a:ext uri="{FF2B5EF4-FFF2-40B4-BE49-F238E27FC236}">
                <a16:creationId xmlns:a16="http://schemas.microsoft.com/office/drawing/2014/main" id="{F07E8A34-51A6-4910-81B2-F48DE43A2237}"/>
              </a:ext>
            </a:extLst>
          </p:cNvPr>
          <p:cNvSpPr>
            <a:spLocks noGrp="1"/>
          </p:cNvSpPr>
          <p:nvPr/>
        </p:nvSpPr>
        <p:spPr>
          <a:xfrm>
            <a:off x="3371850" y="3867150"/>
            <a:ext cx="76200" cy="76200"/>
          </a:xfrm>
          <a:prstGeom prst="ellipse">
            <a:avLst/>
          </a:prstGeom>
          <a:solidFill>
            <a:srgbClr val="FF7F0E"/>
          </a:solidFill>
          <a:ln w="0">
            <a:noFill/>
            <a:prstDash val="solid"/>
          </a:ln>
        </p:spPr>
      </p:sp>
      <p:sp>
        <p:nvSpPr>
          <p:cNvPr id="22" name="tested-3">
            <a:extLst>
              <a:ext uri="{FF2B5EF4-FFF2-40B4-BE49-F238E27FC236}">
                <a16:creationId xmlns:a16="http://schemas.microsoft.com/office/drawing/2014/main" id="{3EE8E1CD-A480-4935-82ED-CA86467A4AB9}"/>
              </a:ext>
            </a:extLst>
          </p:cNvPr>
          <p:cNvSpPr>
            <a:spLocks noGrp="1"/>
          </p:cNvSpPr>
          <p:nvPr/>
        </p:nvSpPr>
        <p:spPr>
          <a:xfrm>
            <a:off x="3581400" y="377190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32238"/>
                </a:solidFill>
              </a:defRPr>
            </a:pPr>
            <a:r>
              <a:rPr sz="1275" b="1" u="sng" dirty="0">
                <a:solidFill>
                  <a:srgbClr val="132238"/>
                </a:solidFill>
              </a:rPr>
              <a:t>SQL safety</a:t>
            </a:r>
            <a:r>
              <a:rPr sz="1275" b="1" dirty="0">
                <a:solidFill>
                  <a:srgbClr val="132238"/>
                </a:solidFill>
              </a:rPr>
              <a:t>: mutation SQL blocked, LIMIT enforced</a:t>
            </a:r>
          </a:p>
        </p:txBody>
      </p:sp>
      <p:sp>
        <p:nvSpPr>
          <p:cNvPr id="23" name="test-dot-4">
            <a:extLst>
              <a:ext uri="{FF2B5EF4-FFF2-40B4-BE49-F238E27FC236}">
                <a16:creationId xmlns:a16="http://schemas.microsoft.com/office/drawing/2014/main" id="{9E3292FF-7B6F-40F3-A33E-887E525F6970}"/>
              </a:ext>
            </a:extLst>
          </p:cNvPr>
          <p:cNvSpPr>
            <a:spLocks noGrp="1"/>
          </p:cNvSpPr>
          <p:nvPr/>
        </p:nvSpPr>
        <p:spPr>
          <a:xfrm>
            <a:off x="3371850" y="4248150"/>
            <a:ext cx="76200" cy="76200"/>
          </a:xfrm>
          <a:prstGeom prst="ellipse">
            <a:avLst/>
          </a:prstGeom>
          <a:solidFill>
            <a:srgbClr val="1F77B4"/>
          </a:solidFill>
          <a:ln w="0">
            <a:noFill/>
            <a:prstDash val="solid"/>
          </a:ln>
        </p:spPr>
      </p:sp>
      <p:sp>
        <p:nvSpPr>
          <p:cNvPr id="24" name="tested-4">
            <a:extLst>
              <a:ext uri="{FF2B5EF4-FFF2-40B4-BE49-F238E27FC236}">
                <a16:creationId xmlns:a16="http://schemas.microsoft.com/office/drawing/2014/main" id="{CC2AAAD2-EFF6-4275-8DEE-56B2A220206C}"/>
              </a:ext>
            </a:extLst>
          </p:cNvPr>
          <p:cNvSpPr>
            <a:spLocks noGrp="1"/>
          </p:cNvSpPr>
          <p:nvPr/>
        </p:nvSpPr>
        <p:spPr>
          <a:xfrm>
            <a:off x="3581400" y="415290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32238"/>
                </a:solidFill>
              </a:defRPr>
            </a:pPr>
            <a:r>
              <a:rPr sz="1275" b="1" u="sng" dirty="0">
                <a:solidFill>
                  <a:srgbClr val="132238"/>
                </a:solidFill>
              </a:rPr>
              <a:t>Analysis agent</a:t>
            </a:r>
            <a:r>
              <a:rPr sz="1275" b="1" dirty="0">
                <a:solidFill>
                  <a:srgbClr val="132238"/>
                </a:solidFill>
              </a:rPr>
              <a:t>: row limits, invalid questions, offline samples</a:t>
            </a:r>
          </a:p>
        </p:txBody>
      </p:sp>
      <p:sp>
        <p:nvSpPr>
          <p:cNvPr id="25" name="test-dot-5">
            <a:extLst>
              <a:ext uri="{FF2B5EF4-FFF2-40B4-BE49-F238E27FC236}">
                <a16:creationId xmlns:a16="http://schemas.microsoft.com/office/drawing/2014/main" id="{94E1541A-6277-4D83-BB4B-17AB4AC95BBA}"/>
              </a:ext>
            </a:extLst>
          </p:cNvPr>
          <p:cNvSpPr>
            <a:spLocks noGrp="1"/>
          </p:cNvSpPr>
          <p:nvPr/>
        </p:nvSpPr>
        <p:spPr>
          <a:xfrm>
            <a:off x="3371850" y="4629150"/>
            <a:ext cx="76200" cy="76200"/>
          </a:xfrm>
          <a:prstGeom prst="ellipse">
            <a:avLst/>
          </a:prstGeom>
          <a:solidFill>
            <a:srgbClr val="1F77B4"/>
          </a:solidFill>
          <a:ln w="0">
            <a:noFill/>
            <a:prstDash val="solid"/>
          </a:ln>
        </p:spPr>
      </p:sp>
      <p:sp>
        <p:nvSpPr>
          <p:cNvPr id="26" name="tested-5">
            <a:extLst>
              <a:ext uri="{FF2B5EF4-FFF2-40B4-BE49-F238E27FC236}">
                <a16:creationId xmlns:a16="http://schemas.microsoft.com/office/drawing/2014/main" id="{092935CC-FC4A-432B-96B8-5E9DA6F760DA}"/>
              </a:ext>
            </a:extLst>
          </p:cNvPr>
          <p:cNvSpPr>
            <a:spLocks noGrp="1"/>
          </p:cNvSpPr>
          <p:nvPr/>
        </p:nvSpPr>
        <p:spPr>
          <a:xfrm>
            <a:off x="3581400" y="453390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32238"/>
                </a:solidFill>
              </a:defRPr>
            </a:pPr>
            <a:r>
              <a:rPr sz="1275" b="1" u="sng" dirty="0">
                <a:solidFill>
                  <a:srgbClr val="132238"/>
                </a:solidFill>
              </a:rPr>
              <a:t>SQL eval</a:t>
            </a:r>
            <a:r>
              <a:rPr sz="1275" b="1" dirty="0">
                <a:solidFill>
                  <a:srgbClr val="132238"/>
                </a:solidFill>
              </a:rPr>
              <a:t>: </a:t>
            </a:r>
            <a:r>
              <a:rPr sz="1275" b="1" dirty="0" err="1">
                <a:solidFill>
                  <a:srgbClr val="132238"/>
                </a:solidFill>
              </a:rPr>
              <a:t>pytest</a:t>
            </a:r>
            <a:r>
              <a:rPr sz="1275" b="1" dirty="0">
                <a:solidFill>
                  <a:srgbClr val="132238"/>
                </a:solidFill>
              </a:rPr>
              <a:t> covers logic; online LLM eval runs separately</a:t>
            </a:r>
          </a:p>
        </p:txBody>
      </p:sp>
      <p:sp>
        <p:nvSpPr>
          <p:cNvPr id="30" name="accent-Production next ">
            <a:extLst>
              <a:ext uri="{FF2B5EF4-FFF2-40B4-BE49-F238E27FC236}">
                <a16:creationId xmlns:a16="http://schemas.microsoft.com/office/drawing/2014/main" id="{871D5316-1875-4782-AA39-2F199B0520AF}"/>
              </a:ext>
            </a:extLst>
          </p:cNvPr>
          <p:cNvSpPr>
            <a:spLocks noGrp="1"/>
          </p:cNvSpPr>
          <p:nvPr/>
        </p:nvSpPr>
        <p:spPr>
          <a:xfrm>
            <a:off x="7429500" y="5257800"/>
            <a:ext cx="47625" cy="323850"/>
          </a:xfrm>
          <a:prstGeom prst="rect">
            <a:avLst/>
          </a:prstGeom>
          <a:solidFill>
            <a:srgbClr val="1F77B4"/>
          </a:solidFill>
          <a:ln w="0">
            <a:solidFill>
              <a:srgbClr val="1F77B4"/>
            </a:solidFill>
            <a:prstDash val="solid"/>
          </a:ln>
        </p:spPr>
      </p:sp>
      <p:sp>
        <p:nvSpPr>
          <p:cNvPr id="31" name="label-Production next ">
            <a:extLst>
              <a:ext uri="{FF2B5EF4-FFF2-40B4-BE49-F238E27FC236}">
                <a16:creationId xmlns:a16="http://schemas.microsoft.com/office/drawing/2014/main" id="{4392434E-E2BE-46A2-9E21-400D2DA9E719}"/>
              </a:ext>
            </a:extLst>
          </p:cNvPr>
          <p:cNvSpPr>
            <a:spLocks noGrp="1"/>
          </p:cNvSpPr>
          <p:nvPr/>
        </p:nvSpPr>
        <p:spPr>
          <a:xfrm>
            <a:off x="7581900" y="52197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Production next steps</a:t>
            </a:r>
          </a:p>
        </p:txBody>
      </p:sp>
      <p:sp>
        <p:nvSpPr>
          <p:cNvPr id="32" name="production-next-steps">
            <a:extLst>
              <a:ext uri="{FF2B5EF4-FFF2-40B4-BE49-F238E27FC236}">
                <a16:creationId xmlns:a16="http://schemas.microsoft.com/office/drawing/2014/main" id="{1DE2251B-D18D-4AFB-9538-C6F2C462342C}"/>
              </a:ext>
            </a:extLst>
          </p:cNvPr>
          <p:cNvSpPr>
            <a:spLocks noGrp="1"/>
          </p:cNvSpPr>
          <p:nvPr/>
        </p:nvSpPr>
        <p:spPr>
          <a:xfrm>
            <a:off x="7581900" y="5638800"/>
            <a:ext cx="361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Expand SQL/result benchmark</a:t>
            </a:r>
          </a:p>
          <a:p>
            <a:pPr algn="l">
              <a:buNone/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Real auth, audit logs, observability</a:t>
            </a:r>
          </a:p>
          <a:p>
            <a:pPr algn="l">
              <a:buNone/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Latency, cost, and error monitoring</a:t>
            </a:r>
          </a:p>
          <a:p>
            <a:pPr algn="l">
              <a:buNone/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Managed deployment and database access</a:t>
            </a:r>
          </a:p>
        </p:txBody>
      </p:sp>
    </p:spTree>
    <p:extLst>
      <p:ext uri="{BB962C8B-B14F-4D97-AF65-F5344CB8AC3E}">
        <p14:creationId xmlns:p14="http://schemas.microsoft.com/office/powerpoint/2010/main" val="19433382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DocSecurity>0</DocSecurity>
  <PresentationFormat>宽屏</PresentationFormat>
  <Paragraphs>76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 Chen</cp:lastModifiedBy>
  <cp:revision>1</cp:revision>
  <dcterms:created xsi:type="dcterms:W3CDTF">2026-08-19T23:18:42Z</dcterms:created>
  <dcterms:modified xsi:type="dcterms:W3CDTF">2026-08-20T18:24:40Z</dcterms:modified>
</cp:coreProperties>
</file>